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c5654d3a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c5654d3a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c5654d3a4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c5654d3a4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c5654d3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c5654d3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c5654d3a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c5654d3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c5654d3a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c5654d3a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c5654d3a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c5654d3a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c5654d3a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c5654d3a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c5654d3a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c5654d3a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c5654d3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c5654d3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c5654d3a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c5654d3a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c5654d3a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c5654d3a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c5654d3a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c5654d3a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c5654d3a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c5654d3a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c5654d3a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c5654d3a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c5654d3a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c5654d3a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c5654d3a4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c5654d3a4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c5654d3a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c5654d3a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c5654d3a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c5654d3a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Beautify this slide" id="54" name="Google Shape;54;p1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02800" y="178475"/>
            <a:ext cx="4673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500">
                <a:solidFill>
                  <a:schemeClr val="dk1"/>
                </a:solidFill>
              </a:rPr>
              <a:t>Organización</a:t>
            </a:r>
            <a:r>
              <a:rPr lang="es" sz="2500">
                <a:solidFill>
                  <a:schemeClr val="dk1"/>
                </a:solidFill>
              </a:rPr>
              <a:t> del proyecto</a:t>
            </a:r>
            <a:endParaRPr sz="2500">
              <a:solidFill>
                <a:schemeClr val="dk1"/>
              </a:solidFill>
            </a:endParaRPr>
          </a:p>
        </p:txBody>
      </p:sp>
      <p:sp>
        <p:nvSpPr>
          <p:cNvPr id="60" name="Google Shape;60;p14"/>
          <p:cNvSpPr txBox="1"/>
          <p:nvPr/>
        </p:nvSpPr>
        <p:spPr>
          <a:xfrm>
            <a:off x="442600" y="747875"/>
            <a:ext cx="8047800" cy="475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s" sz="1100">
                <a:solidFill>
                  <a:schemeClr val="dk1"/>
                </a:solidFill>
              </a:rPr>
              <a:t>El proyecto sigue la estructura solicitada por la cátedra, basada en el principio de autocontención y reproducibilidad:</a:t>
            </a:r>
            <a:endParaRPr sz="1100">
              <a:solidFill>
                <a:schemeClr val="dk1"/>
              </a:solidFill>
            </a:endParaRPr>
          </a:p>
          <a:p>
            <a:pPr indent="0" lvl="0" marL="0" rtl="0" algn="l">
              <a:spcBef>
                <a:spcPts val="1200"/>
              </a:spcBef>
              <a:spcAft>
                <a:spcPts val="0"/>
              </a:spcAft>
              <a:buNone/>
            </a:pPr>
            <a:r>
              <a:rPr lang="es" sz="1100">
                <a:solidFill>
                  <a:schemeClr val="dk1"/>
                </a:solidFill>
                <a:latin typeface="Roboto Mono"/>
                <a:ea typeface="Roboto Mono"/>
                <a:cs typeface="Roboto Mono"/>
                <a:sym typeface="Roboto Mono"/>
              </a:rPr>
              <a:t>proyecto/</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data/</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raw/              # Dataset original de Kaggle</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clean/            # Datos limpios</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processed/        # Datos procesados</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output/</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tables/           # Tablas descriptivas, test y métricas</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figures/          # Gráficos EDA y storytelling</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scripts/</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01_import_y_limpieza.R</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02_outliers_y_missing.R</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03_eda_y_descriptivas.R</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04_modelo_inferencial.R</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 05_visualizaciones_storytelling.R</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100">
                <a:solidFill>
                  <a:schemeClr val="dk1"/>
                </a:solidFill>
                <a:latin typeface="Roboto Mono"/>
                <a:ea typeface="Roboto Mono"/>
                <a:cs typeface="Roboto Mono"/>
                <a:sym typeface="Roboto Mono"/>
              </a:rPr>
              <a:t>└── README.md</a:t>
            </a:r>
            <a:endParaRPr sz="1100">
              <a:solidFill>
                <a:schemeClr val="dk1"/>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100">
                <a:solidFill>
                  <a:schemeClr val="dk1"/>
                </a:solidFill>
              </a:rPr>
              <a:t>Esta estructura asegura que cada script genere un output que alimenta el siguiente, garantizando la total reproducibilidad del análisis.</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Hipótesis</a:t>
            </a:r>
            <a:r>
              <a:rPr lang="es"/>
              <a:t>: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s" sz="1100">
                <a:solidFill>
                  <a:schemeClr val="dk1"/>
                </a:solidFill>
              </a:rPr>
              <a:t>Hipótesis principal (H1):</a:t>
            </a:r>
            <a:endParaRPr b="1" sz="1100">
              <a:solidFill>
                <a:schemeClr val="dk1"/>
              </a:solidFill>
            </a:endParaRPr>
          </a:p>
          <a:p>
            <a:pPr indent="0" lvl="0" marL="381000" marR="381000" rtl="0" algn="l">
              <a:spcBef>
                <a:spcPts val="1200"/>
              </a:spcBef>
              <a:spcAft>
                <a:spcPts val="0"/>
              </a:spcAft>
              <a:buNone/>
            </a:pPr>
            <a:r>
              <a:rPr lang="es" sz="1100">
                <a:solidFill>
                  <a:schemeClr val="dk1"/>
                </a:solidFill>
              </a:rPr>
              <a:t>Los solicitantes con </a:t>
            </a:r>
            <a:r>
              <a:rPr b="1" lang="es" sz="1100">
                <a:solidFill>
                  <a:schemeClr val="dk1"/>
                </a:solidFill>
              </a:rPr>
              <a:t>menores ingresos</a:t>
            </a:r>
            <a:r>
              <a:rPr lang="es" sz="1100">
                <a:solidFill>
                  <a:schemeClr val="dk1"/>
                </a:solidFill>
              </a:rPr>
              <a:t> y </a:t>
            </a:r>
            <a:r>
              <a:rPr b="1" lang="es" sz="1100">
                <a:solidFill>
                  <a:schemeClr val="dk1"/>
                </a:solidFill>
              </a:rPr>
              <a:t>mayor proporción de ingreso comprometida</a:t>
            </a:r>
            <a:r>
              <a:rPr lang="es" sz="1100">
                <a:solidFill>
                  <a:schemeClr val="dk1"/>
                </a:solidFill>
              </a:rPr>
              <a:t> en el préstamo presentan una </a:t>
            </a:r>
            <a:r>
              <a:rPr b="1" lang="es" sz="1100">
                <a:solidFill>
                  <a:schemeClr val="dk1"/>
                </a:solidFill>
              </a:rPr>
              <a:t>probabilidad significativamente mayor de default</a:t>
            </a:r>
            <a:r>
              <a:rPr lang="es" sz="1100">
                <a:solidFill>
                  <a:schemeClr val="dk1"/>
                </a:solidFill>
              </a:rPr>
              <a:t> que el resto de los clientes, controlando por edad, antigüedad laboral y tipo de préstamo.</a:t>
            </a:r>
            <a:endParaRPr sz="1100">
              <a:solidFill>
                <a:schemeClr val="dk1"/>
              </a:solidFill>
            </a:endParaRPr>
          </a:p>
          <a:p>
            <a:pPr indent="0" lvl="0" marL="0" rtl="0" algn="l">
              <a:spcBef>
                <a:spcPts val="1200"/>
              </a:spcBef>
              <a:spcAft>
                <a:spcPts val="0"/>
              </a:spcAft>
              <a:buNone/>
            </a:pPr>
            <a:r>
              <a:rPr b="1" lang="es" sz="1100">
                <a:solidFill>
                  <a:schemeClr val="dk1"/>
                </a:solidFill>
              </a:rPr>
              <a:t>Hipótesis secundaria 1 (H2):</a:t>
            </a:r>
            <a:endParaRPr b="1" sz="1100">
              <a:solidFill>
                <a:schemeClr val="dk1"/>
              </a:solidFill>
            </a:endParaRPr>
          </a:p>
          <a:p>
            <a:pPr indent="0" lvl="0" marL="381000" marR="381000" rtl="0" algn="l">
              <a:spcBef>
                <a:spcPts val="1200"/>
              </a:spcBef>
              <a:spcAft>
                <a:spcPts val="0"/>
              </a:spcAft>
              <a:buNone/>
            </a:pPr>
            <a:r>
              <a:rPr lang="es" sz="1100">
                <a:solidFill>
                  <a:schemeClr val="dk1"/>
                </a:solidFill>
              </a:rPr>
              <a:t>La </a:t>
            </a:r>
            <a:r>
              <a:rPr b="1" lang="es" sz="1100">
                <a:solidFill>
                  <a:schemeClr val="dk1"/>
                </a:solidFill>
              </a:rPr>
              <a:t>tasa de interés</a:t>
            </a:r>
            <a:r>
              <a:rPr lang="es" sz="1100">
                <a:solidFill>
                  <a:schemeClr val="dk1"/>
                </a:solidFill>
              </a:rPr>
              <a:t> aplicada al préstamo es significativamente mayor, en promedio, para los clientes que terminan en </a:t>
            </a:r>
            <a:r>
              <a:rPr b="1" lang="es" sz="1100">
                <a:solidFill>
                  <a:schemeClr val="dk1"/>
                </a:solidFill>
              </a:rPr>
              <a:t>default</a:t>
            </a:r>
            <a:r>
              <a:rPr lang="es" sz="1100">
                <a:solidFill>
                  <a:schemeClr val="dk1"/>
                </a:solidFill>
              </a:rPr>
              <a:t> que para los clientes que pagan normalmente.</a:t>
            </a:r>
            <a:endParaRPr sz="1100">
              <a:solidFill>
                <a:schemeClr val="dk1"/>
              </a:solidFill>
            </a:endParaRPr>
          </a:p>
          <a:p>
            <a:pPr indent="0" lvl="0" marL="0" rtl="0" algn="l">
              <a:spcBef>
                <a:spcPts val="1200"/>
              </a:spcBef>
              <a:spcAft>
                <a:spcPts val="0"/>
              </a:spcAft>
              <a:buNone/>
            </a:pPr>
            <a:r>
              <a:rPr b="1" lang="es" sz="1100">
                <a:solidFill>
                  <a:schemeClr val="dk1"/>
                </a:solidFill>
              </a:rPr>
              <a:t>Hipótesis secundaria 2 (H3):</a:t>
            </a:r>
            <a:endParaRPr b="1" sz="1100">
              <a:solidFill>
                <a:schemeClr val="dk1"/>
              </a:solidFill>
            </a:endParaRPr>
          </a:p>
          <a:p>
            <a:pPr indent="0" lvl="0" marL="381000" marR="381000" rtl="0" algn="l">
              <a:spcBef>
                <a:spcPts val="1200"/>
              </a:spcBef>
              <a:spcAft>
                <a:spcPts val="0"/>
              </a:spcAft>
              <a:buNone/>
            </a:pPr>
            <a:r>
              <a:rPr lang="es" sz="1100">
                <a:solidFill>
                  <a:schemeClr val="dk1"/>
                </a:solidFill>
              </a:rPr>
              <a:t>La </a:t>
            </a:r>
            <a:r>
              <a:rPr b="1" lang="es" sz="1100">
                <a:solidFill>
                  <a:schemeClr val="dk1"/>
                </a:solidFill>
              </a:rPr>
              <a:t>probabilidad de default</a:t>
            </a:r>
            <a:r>
              <a:rPr lang="es" sz="1100">
                <a:solidFill>
                  <a:schemeClr val="dk1"/>
                </a:solidFill>
              </a:rPr>
              <a:t> es mayor en ciertos </a:t>
            </a:r>
            <a:r>
              <a:rPr b="1" lang="es" sz="1100">
                <a:solidFill>
                  <a:schemeClr val="dk1"/>
                </a:solidFill>
              </a:rPr>
              <a:t>tipos de intención del préstamo</a:t>
            </a:r>
            <a:r>
              <a:rPr lang="es" sz="1100">
                <a:solidFill>
                  <a:schemeClr val="dk1"/>
                </a:solidFill>
              </a:rPr>
              <a:t> (por ejemplo, </a:t>
            </a:r>
            <a:r>
              <a:rPr i="1" lang="es" sz="1100">
                <a:solidFill>
                  <a:schemeClr val="dk1"/>
                </a:solidFill>
              </a:rPr>
              <a:t>debt consolidation</a:t>
            </a:r>
            <a:r>
              <a:rPr lang="es" sz="1100">
                <a:solidFill>
                  <a:schemeClr val="dk1"/>
                </a:solidFill>
              </a:rPr>
              <a:t> y </a:t>
            </a:r>
            <a:r>
              <a:rPr i="1" lang="es" sz="1100">
                <a:solidFill>
                  <a:schemeClr val="dk1"/>
                </a:solidFill>
              </a:rPr>
              <a:t>education</a:t>
            </a:r>
            <a:r>
              <a:rPr lang="es" sz="1100">
                <a:solidFill>
                  <a:schemeClr val="dk1"/>
                </a:solidFill>
              </a:rPr>
              <a:t>) que en otros destinos (por ejemplo, </a:t>
            </a:r>
            <a:r>
              <a:rPr i="1" lang="es" sz="1100">
                <a:solidFill>
                  <a:schemeClr val="dk1"/>
                </a:solidFill>
              </a:rPr>
              <a:t>home improvement</a:t>
            </a:r>
            <a:r>
              <a:rPr lang="es"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Diseño de </a:t>
            </a:r>
            <a:r>
              <a:rPr lang="es"/>
              <a:t>investigacion</a:t>
            </a:r>
            <a:endParaRPr/>
          </a:p>
        </p:txBody>
      </p:sp>
      <p:sp>
        <p:nvSpPr>
          <p:cNvPr id="72" name="Google Shape;72;p16"/>
          <p:cNvSpPr txBox="1"/>
          <p:nvPr>
            <p:ph idx="1" type="body"/>
          </p:nvPr>
        </p:nvSpPr>
        <p:spPr>
          <a:xfrm>
            <a:off x="311700" y="101772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ct val="31786"/>
              <a:buFont typeface="Arial"/>
              <a:buNone/>
            </a:pPr>
            <a:r>
              <a:rPr lang="es" sz="3460">
                <a:solidFill>
                  <a:schemeClr val="dk1"/>
                </a:solidFill>
              </a:rPr>
              <a:t>El análisis se basa en el dataset </a:t>
            </a:r>
            <a:r>
              <a:rPr i="1" lang="es" sz="3460">
                <a:solidFill>
                  <a:schemeClr val="dk1"/>
                </a:solidFill>
              </a:rPr>
              <a:t>Credit Risk Dataset</a:t>
            </a:r>
            <a:r>
              <a:rPr lang="es" sz="3460">
                <a:solidFill>
                  <a:schemeClr val="dk1"/>
                </a:solidFill>
              </a:rPr>
              <a:t> (Kaggle), que contiene información de personas que solicitan préstamos: características demográficas, laborales, financieras y el resultado del préstamo (default o no).</a:t>
            </a:r>
            <a:endParaRPr sz="3460">
              <a:solidFill>
                <a:schemeClr val="dk1"/>
              </a:solidFill>
            </a:endParaRPr>
          </a:p>
          <a:p>
            <a:pPr indent="0" lvl="0" marL="0" rtl="0" algn="l">
              <a:spcBef>
                <a:spcPts val="1200"/>
              </a:spcBef>
              <a:spcAft>
                <a:spcPts val="0"/>
              </a:spcAft>
              <a:buClr>
                <a:schemeClr val="dk1"/>
              </a:buClr>
              <a:buSzPct val="31786"/>
              <a:buFont typeface="Arial"/>
              <a:buNone/>
            </a:pPr>
            <a:r>
              <a:rPr lang="es" sz="3460">
                <a:solidFill>
                  <a:schemeClr val="dk1"/>
                </a:solidFill>
              </a:rPr>
              <a:t>Para evaluar la hipótesis principal (H1) y las secundarias (H2 y H3), se sigue el siguiente diseño:</a:t>
            </a:r>
            <a:endParaRPr sz="3460">
              <a:solidFill>
                <a:schemeClr val="dk1"/>
              </a:solidFill>
            </a:endParaRPr>
          </a:p>
          <a:p>
            <a:pPr indent="-283536" lvl="0" marL="457200" rtl="0" algn="l">
              <a:spcBef>
                <a:spcPts val="1200"/>
              </a:spcBef>
              <a:spcAft>
                <a:spcPts val="0"/>
              </a:spcAft>
              <a:buClr>
                <a:schemeClr val="dk1"/>
              </a:buClr>
              <a:buSzPct val="100000"/>
              <a:buAutoNum type="arabicPeriod"/>
            </a:pPr>
            <a:r>
              <a:rPr b="1" lang="es" sz="3460">
                <a:solidFill>
                  <a:schemeClr val="dk1"/>
                </a:solidFill>
              </a:rPr>
              <a:t>Limpieza y preparación del dataset</a:t>
            </a:r>
            <a:r>
              <a:rPr lang="es" sz="3460">
                <a:solidFill>
                  <a:schemeClr val="dk1"/>
                </a:solidFill>
              </a:rPr>
              <a:t>: tratamiento de valores faltantes, detección y manejo de outliers, creación de variables derivadas y codificación de variables categóricas.</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Análisis exploratorio de datos (EDA)</a:t>
            </a:r>
            <a:r>
              <a:rPr lang="es" sz="3460">
                <a:solidFill>
                  <a:schemeClr val="dk1"/>
                </a:solidFill>
              </a:rPr>
              <a:t>: identificación de las variables relevantes, análisis de distribuciones, correlaciones y relaciones iniciales con el resultado del préstamo.</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Estadística descriptiva</a:t>
            </a:r>
            <a:r>
              <a:rPr lang="es" sz="3460">
                <a:solidFill>
                  <a:schemeClr val="dk1"/>
                </a:solidFill>
              </a:rPr>
              <a:t>: cálculo de medidas de tendencia central y dispersión para las variables cuantitativas, y tablas de frecuencia para las variables categóricas.</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Análisis de outliers y faltantes</a:t>
            </a:r>
            <a:r>
              <a:rPr lang="es" sz="3460">
                <a:solidFill>
                  <a:schemeClr val="dk1"/>
                </a:solidFill>
              </a:rPr>
              <a:t>: identificación de observaciones extremas y datos faltantes, decisiones explícitas (eliminación, imputación o mantenimiento) y justificación de los supuestos.</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Evaluación del impacto de la limpieza</a:t>
            </a:r>
            <a:r>
              <a:rPr lang="es" sz="3460">
                <a:solidFill>
                  <a:schemeClr val="dk1"/>
                </a:solidFill>
              </a:rPr>
              <a:t>: comparación de estadísticas descriptivas antes y después del tratamiento de datos.</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Análisis inferencial</a:t>
            </a:r>
            <a:r>
              <a:rPr lang="es" sz="3460">
                <a:solidFill>
                  <a:schemeClr val="dk1"/>
                </a:solidFill>
              </a:rPr>
              <a:t>:</a:t>
            </a:r>
            <a:br>
              <a:rPr lang="es" sz="3460">
                <a:solidFill>
                  <a:schemeClr val="dk1"/>
                </a:solidFill>
              </a:rPr>
            </a:br>
            <a:endParaRPr sz="3460">
              <a:solidFill>
                <a:schemeClr val="dk1"/>
              </a:solidFill>
            </a:endParaRPr>
          </a:p>
          <a:p>
            <a:pPr indent="-283536" lvl="1" marL="914400" rtl="0" algn="l">
              <a:spcBef>
                <a:spcPts val="0"/>
              </a:spcBef>
              <a:spcAft>
                <a:spcPts val="0"/>
              </a:spcAft>
              <a:buClr>
                <a:schemeClr val="dk1"/>
              </a:buClr>
              <a:buSzPct val="100000"/>
              <a:buChar char="○"/>
            </a:pPr>
            <a:r>
              <a:rPr lang="es" sz="3460">
                <a:solidFill>
                  <a:schemeClr val="dk1"/>
                </a:solidFill>
              </a:rPr>
              <a:t>Test de hipótesis sobre diferencias de medias (por ejemplo, tasa de interés promedio entre morosos y no morosos) para H2.</a:t>
            </a:r>
            <a:br>
              <a:rPr lang="es" sz="3460">
                <a:solidFill>
                  <a:schemeClr val="dk1"/>
                </a:solidFill>
              </a:rPr>
            </a:br>
            <a:endParaRPr sz="3460">
              <a:solidFill>
                <a:schemeClr val="dk1"/>
              </a:solidFill>
            </a:endParaRPr>
          </a:p>
          <a:p>
            <a:pPr indent="-283536" lvl="1" marL="914400" rtl="0" algn="l">
              <a:spcBef>
                <a:spcPts val="0"/>
              </a:spcBef>
              <a:spcAft>
                <a:spcPts val="0"/>
              </a:spcAft>
              <a:buClr>
                <a:schemeClr val="dk1"/>
              </a:buClr>
              <a:buSzPct val="100000"/>
              <a:buChar char="○"/>
            </a:pPr>
            <a:r>
              <a:rPr lang="es" sz="3460">
                <a:solidFill>
                  <a:schemeClr val="dk1"/>
                </a:solidFill>
              </a:rPr>
              <a:t>Modelo de Regresión Logística para estimar la probabilidad de default y evaluar H1 y H3.</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Visualizaciones y storytelling</a:t>
            </a:r>
            <a:r>
              <a:rPr lang="es" sz="3460">
                <a:solidFill>
                  <a:schemeClr val="dk1"/>
                </a:solidFill>
              </a:rPr>
              <a:t>: elaboración de al menos dos gráficos editorializados que sintetizan hallazgos centrales y varios gráficos exploratorios adicionales.</a:t>
            </a:r>
            <a:br>
              <a:rPr lang="es" sz="3460">
                <a:solidFill>
                  <a:schemeClr val="dk1"/>
                </a:solidFill>
              </a:rPr>
            </a:br>
            <a:endParaRPr sz="3460">
              <a:solidFill>
                <a:schemeClr val="dk1"/>
              </a:solidFill>
            </a:endParaRPr>
          </a:p>
          <a:p>
            <a:pPr indent="-283536" lvl="0" marL="457200" rtl="0" algn="l">
              <a:spcBef>
                <a:spcPts val="0"/>
              </a:spcBef>
              <a:spcAft>
                <a:spcPts val="0"/>
              </a:spcAft>
              <a:buClr>
                <a:schemeClr val="dk1"/>
              </a:buClr>
              <a:buSzPct val="100000"/>
              <a:buAutoNum type="arabicPeriod"/>
            </a:pPr>
            <a:r>
              <a:rPr b="1" lang="es" sz="3460">
                <a:solidFill>
                  <a:schemeClr val="dk1"/>
                </a:solidFill>
              </a:rPr>
              <a:t>Conclusiones</a:t>
            </a:r>
            <a:r>
              <a:rPr lang="es" sz="3460">
                <a:solidFill>
                  <a:schemeClr val="dk1"/>
                </a:solidFill>
              </a:rPr>
              <a:t>: respuesta explícita a cada hipótesis, discusión de hallazgos, limitaciones e implicancias prácticas.</a:t>
            </a:r>
            <a:endParaRPr sz="346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271150" y="175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EDA: Estructura y Variables</a:t>
            </a:r>
            <a:endParaRPr/>
          </a:p>
          <a:p>
            <a:pPr indent="0" lvl="0" marL="0" rtl="0" algn="l">
              <a:spcBef>
                <a:spcPts val="0"/>
              </a:spcBef>
              <a:spcAft>
                <a:spcPts val="0"/>
              </a:spcAft>
              <a:buNone/>
            </a:pPr>
            <a:r>
              <a:rPr lang="es"/>
              <a:t>1.1 - Ingresos</a:t>
            </a:r>
            <a:endParaRPr/>
          </a:p>
        </p:txBody>
      </p:sp>
      <p:sp>
        <p:nvSpPr>
          <p:cNvPr id="78" name="Google Shape;78;p17"/>
          <p:cNvSpPr txBox="1"/>
          <p:nvPr/>
        </p:nvSpPr>
        <p:spPr>
          <a:xfrm>
            <a:off x="5678925" y="747750"/>
            <a:ext cx="29613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El ingreso de los solicitantes presenta una distribución fuertemente asimétrica hacia la derecha. La mayoría de los individuos se concentra en rangos de ingresos bajos y medios, mientras que existe una cola larga de casos con ingresos altos. Esta heterogeneidad económica es relevante para el análisis del riesgo crediticio, dado que los niveles de ingreso influyen directamente en la capacidad de pago del préstamo.</a:t>
            </a:r>
            <a:endParaRPr sz="700">
              <a:solidFill>
                <a:schemeClr val="dk2"/>
              </a:solidFill>
            </a:endParaRPr>
          </a:p>
        </p:txBody>
      </p:sp>
      <p:pic>
        <p:nvPicPr>
          <p:cNvPr id="79" name="Google Shape;79;p17"/>
          <p:cNvPicPr preferRelativeResize="0"/>
          <p:nvPr/>
        </p:nvPicPr>
        <p:blipFill>
          <a:blip r:embed="rId3">
            <a:alphaModFix/>
          </a:blip>
          <a:stretch>
            <a:fillRect/>
          </a:stretch>
        </p:blipFill>
        <p:spPr>
          <a:xfrm>
            <a:off x="311700" y="1413525"/>
            <a:ext cx="5197998" cy="3291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1.2 - Edad</a:t>
            </a:r>
            <a:endParaRPr/>
          </a:p>
        </p:txBody>
      </p:sp>
      <p:sp>
        <p:nvSpPr>
          <p:cNvPr id="85" name="Google Shape;85;p18"/>
          <p:cNvSpPr txBox="1"/>
          <p:nvPr/>
        </p:nvSpPr>
        <p:spPr>
          <a:xfrm>
            <a:off x="5589700" y="636900"/>
            <a:ext cx="3488400" cy="41328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Clr>
                <a:schemeClr val="dk1"/>
              </a:buClr>
              <a:buSzPts val="1100"/>
              <a:buFont typeface="Arial"/>
              <a:buNone/>
            </a:pPr>
            <a:r>
              <a:rPr lang="es" sz="1500">
                <a:solidFill>
                  <a:schemeClr val="dk2"/>
                </a:solidFill>
              </a:rPr>
              <a:t>La distribución de la edad se concentra principalmente entre los 25 y 60 años, con pocos valores extremos. Esta forma relativamente simétrica sugiere que el dataset contiene una población adulta financieramente activa, lo cual es consistente con un mercado crediticio tradicional. La ausencia de valores extremos significativos facilita la modelización sin necesidad de transformaciones adicionales en esta variable.</a:t>
            </a:r>
            <a:endParaRPr sz="1500">
              <a:solidFill>
                <a:schemeClr val="dk2"/>
              </a:solidFill>
            </a:endParaRPr>
          </a:p>
        </p:txBody>
      </p:sp>
      <p:pic>
        <p:nvPicPr>
          <p:cNvPr id="86" name="Google Shape;86;p18"/>
          <p:cNvPicPr preferRelativeResize="0"/>
          <p:nvPr/>
        </p:nvPicPr>
        <p:blipFill>
          <a:blip r:embed="rId3">
            <a:alphaModFix/>
          </a:blip>
          <a:stretch>
            <a:fillRect/>
          </a:stretch>
        </p:blipFill>
        <p:spPr>
          <a:xfrm>
            <a:off x="311700" y="1129550"/>
            <a:ext cx="5284900" cy="334177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1.3 - Tasa de interés</a:t>
            </a:r>
            <a:endParaRPr/>
          </a:p>
        </p:txBody>
      </p:sp>
      <p:sp>
        <p:nvSpPr>
          <p:cNvPr id="92" name="Google Shape;92;p19"/>
          <p:cNvSpPr txBox="1"/>
          <p:nvPr/>
        </p:nvSpPr>
        <p:spPr>
          <a:xfrm>
            <a:off x="5730975" y="640875"/>
            <a:ext cx="3566400" cy="43329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s" sz="1500">
                <a:solidFill>
                  <a:schemeClr val="dk2"/>
                </a:solidFill>
              </a:rPr>
              <a:t>La tasa de interés de los préstamos muestra un sesgo positivo: la mayoría de los préstamos se otorgan a tasas moderadas, mientras que un subconjunto pequeño presenta tasas considerablemente más altas. Esta variabilidad es clave para el análisis, ya que tasas más elevadas suelen asociarse al perfil de mayor riesgo, información que luego se confirma en el análisis inferencial.</a:t>
            </a:r>
            <a:endParaRPr sz="1500">
              <a:solidFill>
                <a:schemeClr val="dk2"/>
              </a:solidFill>
            </a:endParaRPr>
          </a:p>
          <a:p>
            <a:pPr indent="0" lvl="0" marL="0" rtl="0" algn="l">
              <a:spcBef>
                <a:spcPts val="1200"/>
              </a:spcBef>
              <a:spcAft>
                <a:spcPts val="0"/>
              </a:spcAft>
              <a:buNone/>
            </a:pPr>
            <a:r>
              <a:t/>
            </a:r>
            <a:endParaRPr sz="1800">
              <a:solidFill>
                <a:schemeClr val="dk2"/>
              </a:solidFill>
            </a:endParaRPr>
          </a:p>
        </p:txBody>
      </p:sp>
      <p:pic>
        <p:nvPicPr>
          <p:cNvPr id="93" name="Google Shape;93;p19"/>
          <p:cNvPicPr preferRelativeResize="0"/>
          <p:nvPr/>
        </p:nvPicPr>
        <p:blipFill>
          <a:blip r:embed="rId3">
            <a:alphaModFix/>
          </a:blip>
          <a:stretch>
            <a:fillRect/>
          </a:stretch>
        </p:blipFill>
        <p:spPr>
          <a:xfrm>
            <a:off x="311700" y="1129575"/>
            <a:ext cx="5675525" cy="3638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Tasa de default según intención del préstamo</a:t>
            </a:r>
            <a:endParaRPr/>
          </a:p>
        </p:txBody>
      </p:sp>
      <p:pic>
        <p:nvPicPr>
          <p:cNvPr id="99" name="Google Shape;99;p20"/>
          <p:cNvPicPr preferRelativeResize="0"/>
          <p:nvPr/>
        </p:nvPicPr>
        <p:blipFill>
          <a:blip r:embed="rId3">
            <a:alphaModFix/>
          </a:blip>
          <a:stretch>
            <a:fillRect/>
          </a:stretch>
        </p:blipFill>
        <p:spPr>
          <a:xfrm>
            <a:off x="311700" y="959225"/>
            <a:ext cx="5221228" cy="3841976"/>
          </a:xfrm>
          <a:prstGeom prst="rect">
            <a:avLst/>
          </a:prstGeom>
          <a:noFill/>
          <a:ln>
            <a:noFill/>
          </a:ln>
        </p:spPr>
      </p:pic>
      <p:sp>
        <p:nvSpPr>
          <p:cNvPr id="100" name="Google Shape;100;p20"/>
          <p:cNvSpPr txBox="1"/>
          <p:nvPr/>
        </p:nvSpPr>
        <p:spPr>
          <a:xfrm>
            <a:off x="5395000" y="1052925"/>
            <a:ext cx="3837300" cy="40674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s" sz="1500">
                <a:solidFill>
                  <a:schemeClr val="dk2"/>
                </a:solidFill>
              </a:rPr>
              <a:t>Las tasas de default difieren sustancialmente según la intención del préstamo. Categorías como </a:t>
            </a:r>
            <a:r>
              <a:rPr i="1" lang="es" sz="1500">
                <a:solidFill>
                  <a:schemeClr val="dk2"/>
                </a:solidFill>
              </a:rPr>
              <a:t>debt consolidation</a:t>
            </a:r>
            <a:r>
              <a:rPr lang="es" sz="1500">
                <a:solidFill>
                  <a:schemeClr val="dk2"/>
                </a:solidFill>
              </a:rPr>
              <a:t> y </a:t>
            </a:r>
            <a:r>
              <a:rPr i="1" lang="es" sz="1500">
                <a:solidFill>
                  <a:schemeClr val="dk2"/>
                </a:solidFill>
              </a:rPr>
              <a:t>medical</a:t>
            </a:r>
            <a:r>
              <a:rPr lang="es" sz="1500">
                <a:solidFill>
                  <a:schemeClr val="dk2"/>
                </a:solidFill>
              </a:rPr>
              <a:t> exhiben las tasas más elevadas, lo que sugiere que ciertos propósitos del préstamo están asociados a mayores niveles de vulnerabilidad financiera. Estas diferencias motivan la inclusión de la variable </a:t>
            </a:r>
            <a:r>
              <a:rPr lang="es" sz="1500">
                <a:solidFill>
                  <a:schemeClr val="dk2"/>
                </a:solidFill>
                <a:latin typeface="Roboto Mono"/>
                <a:ea typeface="Roboto Mono"/>
                <a:cs typeface="Roboto Mono"/>
                <a:sym typeface="Roboto Mono"/>
              </a:rPr>
              <a:t>loan_intent</a:t>
            </a:r>
            <a:r>
              <a:rPr lang="es" sz="1500">
                <a:solidFill>
                  <a:schemeClr val="dk2"/>
                </a:solidFill>
              </a:rPr>
              <a:t> dentro del modelo de regresión logística.</a:t>
            </a:r>
            <a:endParaRPr sz="15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Outliers y datos faltantes</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935"/>
              <a:buFont typeface="Arial"/>
              <a:buNone/>
            </a:pPr>
            <a:r>
              <a:rPr lang="es" sz="1135">
                <a:solidFill>
                  <a:schemeClr val="dk1"/>
                </a:solidFill>
              </a:rPr>
              <a:t>Para identificar valores atípicos se analizaron las variables numéricas </a:t>
            </a:r>
            <a:r>
              <a:rPr lang="es" sz="1135">
                <a:solidFill>
                  <a:srgbClr val="188038"/>
                </a:solidFill>
                <a:latin typeface="Roboto Mono"/>
                <a:ea typeface="Roboto Mono"/>
                <a:cs typeface="Roboto Mono"/>
                <a:sym typeface="Roboto Mono"/>
              </a:rPr>
              <a:t>person_income</a:t>
            </a:r>
            <a:r>
              <a:rPr lang="es" sz="1135">
                <a:solidFill>
                  <a:schemeClr val="dk1"/>
                </a:solidFill>
              </a:rPr>
              <a:t>, </a:t>
            </a:r>
            <a:r>
              <a:rPr lang="es" sz="1135">
                <a:solidFill>
                  <a:srgbClr val="188038"/>
                </a:solidFill>
                <a:latin typeface="Roboto Mono"/>
                <a:ea typeface="Roboto Mono"/>
                <a:cs typeface="Roboto Mono"/>
                <a:sym typeface="Roboto Mono"/>
              </a:rPr>
              <a:t>loan_amnt</a:t>
            </a:r>
            <a:r>
              <a:rPr lang="es" sz="1135">
                <a:solidFill>
                  <a:schemeClr val="dk1"/>
                </a:solidFill>
              </a:rPr>
              <a:t> y </a:t>
            </a:r>
            <a:r>
              <a:rPr lang="es" sz="1135">
                <a:solidFill>
                  <a:srgbClr val="188038"/>
                </a:solidFill>
                <a:latin typeface="Roboto Mono"/>
                <a:ea typeface="Roboto Mono"/>
                <a:cs typeface="Roboto Mono"/>
                <a:sym typeface="Roboto Mono"/>
              </a:rPr>
              <a:t>loan_int_rate</a:t>
            </a:r>
            <a:r>
              <a:rPr lang="es" sz="1135">
                <a:solidFill>
                  <a:schemeClr val="dk1"/>
                </a:solidFill>
              </a:rPr>
              <a:t> mediante boxplots. Se observaron valores extremos especialmente en </a:t>
            </a:r>
            <a:r>
              <a:rPr b="1" lang="es" sz="1135">
                <a:solidFill>
                  <a:schemeClr val="dk1"/>
                </a:solidFill>
              </a:rPr>
              <a:t>ingresos</a:t>
            </a:r>
            <a:r>
              <a:rPr lang="es" sz="1135">
                <a:solidFill>
                  <a:schemeClr val="dk1"/>
                </a:solidFill>
              </a:rPr>
              <a:t> y en </a:t>
            </a:r>
            <a:r>
              <a:rPr b="1" lang="es" sz="1135">
                <a:solidFill>
                  <a:schemeClr val="dk1"/>
                </a:solidFill>
              </a:rPr>
              <a:t>montos del préstamo</a:t>
            </a:r>
            <a:r>
              <a:rPr lang="es" sz="1135">
                <a:solidFill>
                  <a:schemeClr val="dk1"/>
                </a:solidFill>
              </a:rPr>
              <a:t>, ambos con colas derechas pronunciadas. Estos outliers representan casos poco frecuentes pero potencialmente influyentes en la estimación de los parámetros del modelo.</a:t>
            </a:r>
            <a:endParaRPr sz="1135">
              <a:solidFill>
                <a:schemeClr val="dk1"/>
              </a:solidFill>
            </a:endParaRPr>
          </a:p>
          <a:p>
            <a:pPr indent="0" lvl="0" marL="0" rtl="0" algn="l">
              <a:lnSpc>
                <a:spcPct val="95000"/>
              </a:lnSpc>
              <a:spcBef>
                <a:spcPts val="1200"/>
              </a:spcBef>
              <a:spcAft>
                <a:spcPts val="0"/>
              </a:spcAft>
              <a:buClr>
                <a:schemeClr val="dk1"/>
              </a:buClr>
              <a:buSzPts val="935"/>
              <a:buFont typeface="Arial"/>
              <a:buNone/>
            </a:pPr>
            <a:r>
              <a:rPr b="1" lang="es" sz="1135">
                <a:solidFill>
                  <a:schemeClr val="dk1"/>
                </a:solidFill>
              </a:rPr>
              <a:t>Datos faltantes:</a:t>
            </a:r>
            <a:br>
              <a:rPr b="1" lang="es" sz="1135">
                <a:solidFill>
                  <a:schemeClr val="dk1"/>
                </a:solidFill>
              </a:rPr>
            </a:br>
            <a:r>
              <a:rPr lang="es" sz="1135">
                <a:solidFill>
                  <a:schemeClr val="dk1"/>
                </a:solidFill>
              </a:rPr>
              <a:t> El análisis de completitud mostró que la mayoría de las variables presenta una proporción baja de valores faltantes. No se detectaron patrones sistemáticos asociados al estado del préstamo, lo cual sugiere un mecanismo cercano a </a:t>
            </a:r>
            <a:r>
              <a:rPr b="1" lang="es" sz="1135">
                <a:solidFill>
                  <a:schemeClr val="dk1"/>
                </a:solidFill>
              </a:rPr>
              <a:t>MCAR/MAR</a:t>
            </a:r>
            <a:r>
              <a:rPr lang="es" sz="1135">
                <a:solidFill>
                  <a:schemeClr val="dk1"/>
                </a:solidFill>
              </a:rPr>
              <a:t>. Esto permite tomar decisiones de limpieza sin introducir sesgos evidentes entre los grupos de interés.</a:t>
            </a:r>
            <a:endParaRPr sz="1135">
              <a:solidFill>
                <a:schemeClr val="dk1"/>
              </a:solidFill>
            </a:endParaRPr>
          </a:p>
          <a:p>
            <a:pPr indent="0" lvl="0" marL="0" rtl="0" algn="l">
              <a:lnSpc>
                <a:spcPct val="95000"/>
              </a:lnSpc>
              <a:spcBef>
                <a:spcPts val="1200"/>
              </a:spcBef>
              <a:spcAft>
                <a:spcPts val="0"/>
              </a:spcAft>
              <a:buClr>
                <a:schemeClr val="dk1"/>
              </a:buClr>
              <a:buSzPts val="935"/>
              <a:buFont typeface="Arial"/>
              <a:buNone/>
            </a:pPr>
            <a:r>
              <a:rPr b="1" lang="es" sz="1135">
                <a:solidFill>
                  <a:schemeClr val="dk1"/>
                </a:solidFill>
              </a:rPr>
              <a:t>Decisiones tomadas:</a:t>
            </a:r>
            <a:endParaRPr b="1" sz="1135">
              <a:solidFill>
                <a:schemeClr val="dk1"/>
              </a:solidFill>
            </a:endParaRPr>
          </a:p>
          <a:p>
            <a:pPr indent="-300672" lvl="0" marL="457200" rtl="0" algn="l">
              <a:lnSpc>
                <a:spcPct val="95000"/>
              </a:lnSpc>
              <a:spcBef>
                <a:spcPts val="1200"/>
              </a:spcBef>
              <a:spcAft>
                <a:spcPts val="0"/>
              </a:spcAft>
              <a:buClr>
                <a:schemeClr val="dk1"/>
              </a:buClr>
              <a:buSzPts val="1135"/>
              <a:buChar char="●"/>
            </a:pPr>
            <a:r>
              <a:rPr lang="es" sz="1135">
                <a:solidFill>
                  <a:schemeClr val="dk1"/>
                </a:solidFill>
              </a:rPr>
              <a:t>Se eliminaron filas con valores faltantes en variables críticas para el modelado (proporción pequeña).</a:t>
            </a:r>
            <a:br>
              <a:rPr lang="es" sz="1135">
                <a:solidFill>
                  <a:schemeClr val="dk1"/>
                </a:solidFill>
              </a:rPr>
            </a:br>
            <a:endParaRPr sz="1135">
              <a:solidFill>
                <a:schemeClr val="dk1"/>
              </a:solidFill>
            </a:endParaRPr>
          </a:p>
          <a:p>
            <a:pPr indent="-300672" lvl="0" marL="457200" rtl="0" algn="l">
              <a:lnSpc>
                <a:spcPct val="95000"/>
              </a:lnSpc>
              <a:spcBef>
                <a:spcPts val="0"/>
              </a:spcBef>
              <a:spcAft>
                <a:spcPts val="0"/>
              </a:spcAft>
              <a:buClr>
                <a:schemeClr val="dk1"/>
              </a:buClr>
              <a:buSzPts val="1135"/>
              <a:buChar char="●"/>
            </a:pPr>
            <a:r>
              <a:rPr lang="es" sz="1135">
                <a:solidFill>
                  <a:schemeClr val="dk1"/>
                </a:solidFill>
              </a:rPr>
              <a:t>Los outliers extremos fueron tratados mediante </a:t>
            </a:r>
            <a:r>
              <a:rPr b="1" lang="es" sz="1135">
                <a:solidFill>
                  <a:schemeClr val="dk1"/>
                </a:solidFill>
              </a:rPr>
              <a:t>winsorización ligera</a:t>
            </a:r>
            <a:r>
              <a:rPr lang="es" sz="1135">
                <a:solidFill>
                  <a:schemeClr val="dk1"/>
                </a:solidFill>
              </a:rPr>
              <a:t> en percentiles altos, preservando la estructura del dataset pero reduciendo su influencia estadística.</a:t>
            </a:r>
            <a:br>
              <a:rPr lang="es" sz="1135">
                <a:solidFill>
                  <a:schemeClr val="dk1"/>
                </a:solidFill>
              </a:rPr>
            </a:br>
            <a:endParaRPr sz="1135">
              <a:solidFill>
                <a:schemeClr val="dk1"/>
              </a:solidFill>
            </a:endParaRPr>
          </a:p>
          <a:p>
            <a:pPr indent="0" lvl="0" marL="0" rtl="0" algn="l">
              <a:lnSpc>
                <a:spcPct val="95000"/>
              </a:lnSpc>
              <a:spcBef>
                <a:spcPts val="1200"/>
              </a:spcBef>
              <a:spcAft>
                <a:spcPts val="0"/>
              </a:spcAft>
              <a:buClr>
                <a:schemeClr val="dk1"/>
              </a:buClr>
              <a:buSzPts val="935"/>
              <a:buFont typeface="Arial"/>
              <a:buNone/>
            </a:pPr>
            <a:r>
              <a:rPr b="1" lang="es" sz="1135">
                <a:solidFill>
                  <a:schemeClr val="dk1"/>
                </a:solidFill>
              </a:rPr>
              <a:t>Fundamento:</a:t>
            </a:r>
            <a:br>
              <a:rPr b="1" lang="es" sz="1135">
                <a:solidFill>
                  <a:schemeClr val="dk1"/>
                </a:solidFill>
              </a:rPr>
            </a:br>
            <a:r>
              <a:rPr lang="es" sz="1135">
                <a:solidFill>
                  <a:schemeClr val="dk1"/>
                </a:solidFill>
              </a:rPr>
              <a:t> Estas decisiones permiten mantener la integridad del análisis evitando que pocos casos extremos distorsionen las conclusiones, sin alterar significativamente la distribución central de los datos.</a:t>
            </a:r>
            <a:endParaRPr sz="1135">
              <a:solidFill>
                <a:schemeClr val="dk1"/>
              </a:solidFill>
            </a:endParaRPr>
          </a:p>
          <a:p>
            <a:pPr indent="0" lvl="0" marL="0" rtl="0" algn="l">
              <a:lnSpc>
                <a:spcPct val="95000"/>
              </a:lnSpc>
              <a:spcBef>
                <a:spcPts val="1200"/>
              </a:spcBef>
              <a:spcAft>
                <a:spcPts val="1200"/>
              </a:spcAft>
              <a:buSzPts val="935"/>
              <a:buNone/>
            </a:pPr>
            <a:r>
              <a:t/>
            </a:r>
            <a:endParaRPr sz="153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Impacto de la limpieza</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lnSpcReduction="20000"/>
          </a:bodyPr>
          <a:lstStyle/>
          <a:p>
            <a:pPr indent="0" lvl="0" marL="0" rtl="0" algn="l">
              <a:spcBef>
                <a:spcPts val="1200"/>
              </a:spcBef>
              <a:spcAft>
                <a:spcPts val="0"/>
              </a:spcAft>
              <a:buClr>
                <a:schemeClr val="dk1"/>
              </a:buClr>
              <a:buSzPct val="38320"/>
              <a:buFont typeface="Arial"/>
              <a:buNone/>
            </a:pPr>
            <a:r>
              <a:rPr lang="es" sz="2870">
                <a:solidFill>
                  <a:schemeClr val="dk1"/>
                </a:solidFill>
              </a:rPr>
              <a:t>Luego del tratamiento de outliers y la eliminación de registros con faltantes críticos, se recalcularon las estadísticas descriptivas principales. Las medias y medianas de </a:t>
            </a:r>
            <a:r>
              <a:rPr lang="es" sz="2870">
                <a:solidFill>
                  <a:srgbClr val="188038"/>
                </a:solidFill>
                <a:latin typeface="Roboto Mono"/>
                <a:ea typeface="Roboto Mono"/>
                <a:cs typeface="Roboto Mono"/>
                <a:sym typeface="Roboto Mono"/>
              </a:rPr>
              <a:t>person_income</a:t>
            </a:r>
            <a:r>
              <a:rPr lang="es" sz="2870">
                <a:solidFill>
                  <a:schemeClr val="dk1"/>
                </a:solidFill>
              </a:rPr>
              <a:t> y </a:t>
            </a:r>
            <a:r>
              <a:rPr lang="es" sz="2870">
                <a:solidFill>
                  <a:srgbClr val="188038"/>
                </a:solidFill>
                <a:latin typeface="Roboto Mono"/>
                <a:ea typeface="Roboto Mono"/>
                <a:cs typeface="Roboto Mono"/>
                <a:sym typeface="Roboto Mono"/>
              </a:rPr>
              <a:t>loan_amnt</a:t>
            </a:r>
            <a:r>
              <a:rPr lang="es" sz="2870">
                <a:solidFill>
                  <a:schemeClr val="dk1"/>
                </a:solidFill>
              </a:rPr>
              <a:t> mostraron variaciones leves, mientras que la desviación estándar disminuyó ligeramente, reflejando una reducción controlada en la dispersión.</a:t>
            </a:r>
            <a:endParaRPr sz="2870">
              <a:solidFill>
                <a:schemeClr val="dk1"/>
              </a:solidFill>
            </a:endParaRPr>
          </a:p>
          <a:p>
            <a:pPr indent="0" lvl="0" marL="0" rtl="0" algn="l">
              <a:spcBef>
                <a:spcPts val="1200"/>
              </a:spcBef>
              <a:spcAft>
                <a:spcPts val="0"/>
              </a:spcAft>
              <a:buClr>
                <a:schemeClr val="dk1"/>
              </a:buClr>
              <a:buSzPct val="38320"/>
              <a:buFont typeface="Arial"/>
              <a:buNone/>
            </a:pPr>
            <a:r>
              <a:rPr b="1" lang="es" sz="2870">
                <a:solidFill>
                  <a:schemeClr val="dk1"/>
                </a:solidFill>
              </a:rPr>
              <a:t>Comparación con la base original:</a:t>
            </a:r>
            <a:br>
              <a:rPr b="1" lang="es" sz="2870">
                <a:solidFill>
                  <a:schemeClr val="dk1"/>
                </a:solidFill>
              </a:rPr>
            </a:br>
            <a:r>
              <a:rPr lang="es" sz="2870">
                <a:solidFill>
                  <a:schemeClr val="dk1"/>
                </a:solidFill>
              </a:rPr>
              <a:t> La estructura central del dataset se mantuvo prácticamente inalterada. Las variables no afectadas por outliers conservaron sus distribuciones originales, y no se observaron cambios sustanciales en la composición del grupo moroso versus no moroso.</a:t>
            </a:r>
            <a:endParaRPr sz="2870">
              <a:solidFill>
                <a:schemeClr val="dk1"/>
              </a:solidFill>
            </a:endParaRPr>
          </a:p>
          <a:p>
            <a:pPr indent="0" lvl="0" marL="0" rtl="0" algn="l">
              <a:spcBef>
                <a:spcPts val="1200"/>
              </a:spcBef>
              <a:spcAft>
                <a:spcPts val="0"/>
              </a:spcAft>
              <a:buClr>
                <a:schemeClr val="dk1"/>
              </a:buClr>
              <a:buSzPct val="38320"/>
              <a:buFont typeface="Arial"/>
              <a:buNone/>
            </a:pPr>
            <a:r>
              <a:rPr b="1" lang="es" sz="2870">
                <a:solidFill>
                  <a:schemeClr val="dk1"/>
                </a:solidFill>
              </a:rPr>
              <a:t>Evaluación del impacto:</a:t>
            </a:r>
            <a:br>
              <a:rPr b="1" lang="es" sz="2870">
                <a:solidFill>
                  <a:schemeClr val="dk1"/>
                </a:solidFill>
              </a:rPr>
            </a:br>
            <a:r>
              <a:rPr lang="es" sz="2870">
                <a:solidFill>
                  <a:schemeClr val="dk1"/>
                </a:solidFill>
              </a:rPr>
              <a:t> Las modificaciones no alteran las conclusiones del análisis. La limpieza mejora la estabilidad del modelo y reduce la sensibilidad a observaciones extremas sin sacrificar información relevante. Dado que los faltantes eran escasos y no presentaban patrones sistemáticos, su eliminación no introduce sesgos detectables.</a:t>
            </a:r>
            <a:endParaRPr sz="2870">
              <a:solidFill>
                <a:schemeClr val="dk1"/>
              </a:solidFill>
            </a:endParaRPr>
          </a:p>
          <a:p>
            <a:pPr indent="0" lvl="0" marL="0" rtl="0" algn="l">
              <a:spcBef>
                <a:spcPts val="1200"/>
              </a:spcBef>
              <a:spcAft>
                <a:spcPts val="0"/>
              </a:spcAft>
              <a:buClr>
                <a:schemeClr val="dk1"/>
              </a:buClr>
              <a:buSzPct val="38320"/>
              <a:buFont typeface="Arial"/>
              <a:buNone/>
            </a:pPr>
            <a:r>
              <a:rPr b="1" lang="es" sz="2870">
                <a:solidFill>
                  <a:schemeClr val="dk1"/>
                </a:solidFill>
              </a:rPr>
              <a:t>Conclusión:</a:t>
            </a:r>
            <a:br>
              <a:rPr b="1" lang="es" sz="2870">
                <a:solidFill>
                  <a:schemeClr val="dk1"/>
                </a:solidFill>
              </a:rPr>
            </a:br>
            <a:r>
              <a:rPr lang="es" sz="2870">
                <a:solidFill>
                  <a:schemeClr val="dk1"/>
                </a:solidFill>
              </a:rPr>
              <a:t> El proceso de limpieza aporta robustez al modelo inferencial y mejora la interpretabilidad, asegurando que los hallazgos posteriores —como las relaciones entre tasa de interés, ingreso y probabilidad de default— se basen en un dataset consistente y confiable.</a:t>
            </a:r>
            <a:endParaRPr sz="287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Test de hipótesis (H2)</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0"/>
              </a:spcAft>
              <a:buClr>
                <a:schemeClr val="dk1"/>
              </a:buClr>
              <a:buSzPct val="88000"/>
              <a:buFont typeface="Arial"/>
              <a:buNone/>
            </a:pPr>
            <a:r>
              <a:rPr lang="es" sz="1250">
                <a:solidFill>
                  <a:schemeClr val="dk1"/>
                </a:solidFill>
              </a:rPr>
              <a:t>Hipótesis evaluada (H2):</a:t>
            </a:r>
            <a:br>
              <a:rPr lang="es" sz="1250">
                <a:solidFill>
                  <a:schemeClr val="dk1"/>
                </a:solidFill>
              </a:rPr>
            </a:br>
            <a:r>
              <a:rPr lang="es" sz="1250">
                <a:solidFill>
                  <a:schemeClr val="dk1"/>
                </a:solidFill>
              </a:rPr>
              <a:t> </a:t>
            </a:r>
            <a:r>
              <a:rPr i="1" lang="es" sz="1250">
                <a:solidFill>
                  <a:schemeClr val="dk1"/>
                </a:solidFill>
              </a:rPr>
              <a:t>Los préstamos que terminan en default presentan tasas de interés significativamente más altas que los préstamos que no caen en default</a:t>
            </a:r>
            <a:r>
              <a:rPr lang="es" sz="1250">
                <a:solidFill>
                  <a:schemeClr val="dk1"/>
                </a:solidFill>
              </a:rPr>
              <a:t>.</a:t>
            </a:r>
            <a:endParaRPr sz="1250">
              <a:solidFill>
                <a:schemeClr val="dk1"/>
              </a:solidFill>
            </a:endParaRPr>
          </a:p>
          <a:p>
            <a:pPr indent="0" lvl="0" marL="0" rtl="0" algn="l">
              <a:spcBef>
                <a:spcPts val="1200"/>
              </a:spcBef>
              <a:spcAft>
                <a:spcPts val="0"/>
              </a:spcAft>
              <a:buClr>
                <a:schemeClr val="dk1"/>
              </a:buClr>
              <a:buSzPct val="88000"/>
              <a:buFont typeface="Arial"/>
              <a:buNone/>
            </a:pPr>
            <a:r>
              <a:rPr lang="es" sz="1250">
                <a:solidFill>
                  <a:schemeClr val="dk1"/>
                </a:solidFill>
              </a:rPr>
              <a:t>Para verificar esta afirmación se aplicó un test t de diferencia de medias entre los grupos moroso y no moroso.</a:t>
            </a:r>
            <a:br>
              <a:rPr lang="es" sz="1250">
                <a:solidFill>
                  <a:schemeClr val="dk1"/>
                </a:solidFill>
              </a:rPr>
            </a:br>
            <a:r>
              <a:rPr lang="es" sz="1250">
                <a:solidFill>
                  <a:schemeClr val="dk1"/>
                </a:solidFill>
              </a:rPr>
              <a:t> Debido a que la distribución de tasas de interés es asimétrica, también se contrastó el resultado utilizando una prueba no paramétrica (Wilcoxon), obteniéndose conclusiones consistentes en ambos casos.</a:t>
            </a:r>
            <a:endParaRPr sz="1250">
              <a:solidFill>
                <a:schemeClr val="dk1"/>
              </a:solidFill>
            </a:endParaRPr>
          </a:p>
          <a:p>
            <a:pPr indent="0" lvl="0" marL="0" rtl="0" algn="l">
              <a:spcBef>
                <a:spcPts val="1200"/>
              </a:spcBef>
              <a:spcAft>
                <a:spcPts val="0"/>
              </a:spcAft>
              <a:buClr>
                <a:schemeClr val="dk1"/>
              </a:buClr>
              <a:buSzPct val="88000"/>
              <a:buFont typeface="Arial"/>
              <a:buNone/>
            </a:pPr>
            <a:r>
              <a:rPr b="1" lang="es" sz="1250">
                <a:solidFill>
                  <a:schemeClr val="dk1"/>
                </a:solidFill>
              </a:rPr>
              <a:t>Resultado:</a:t>
            </a:r>
            <a:endParaRPr b="1" sz="1250">
              <a:solidFill>
                <a:schemeClr val="dk1"/>
              </a:solidFill>
            </a:endParaRPr>
          </a:p>
          <a:p>
            <a:pPr indent="-296068" lvl="0" marL="457200" rtl="0" algn="l">
              <a:spcBef>
                <a:spcPts val="1200"/>
              </a:spcBef>
              <a:spcAft>
                <a:spcPts val="0"/>
              </a:spcAft>
              <a:buClr>
                <a:schemeClr val="dk1"/>
              </a:buClr>
              <a:buSzPct val="100000"/>
              <a:buChar char="●"/>
            </a:pPr>
            <a:r>
              <a:rPr lang="es" sz="1250">
                <a:solidFill>
                  <a:schemeClr val="dk1"/>
                </a:solidFill>
              </a:rPr>
              <a:t>p-valor &lt; 0,05 → se rechaza la hipótesis nula de igualdad de medias.</a:t>
            </a:r>
            <a:br>
              <a:rPr lang="es" sz="1250">
                <a:solidFill>
                  <a:schemeClr val="dk1"/>
                </a:solidFill>
              </a:rPr>
            </a:br>
            <a:endParaRPr sz="1250">
              <a:solidFill>
                <a:schemeClr val="dk1"/>
              </a:solidFill>
            </a:endParaRPr>
          </a:p>
          <a:p>
            <a:pPr indent="-296068" lvl="0" marL="457200" rtl="0" algn="l">
              <a:spcBef>
                <a:spcPts val="0"/>
              </a:spcBef>
              <a:spcAft>
                <a:spcPts val="0"/>
              </a:spcAft>
              <a:buClr>
                <a:schemeClr val="dk1"/>
              </a:buClr>
              <a:buSzPct val="100000"/>
              <a:buChar char="●"/>
            </a:pPr>
            <a:r>
              <a:rPr lang="es" sz="1250">
                <a:solidFill>
                  <a:schemeClr val="dk1"/>
                </a:solidFill>
              </a:rPr>
              <a:t>La tasa de interés media y mediana del grupo moroso es sustancialmente mayor.</a:t>
            </a:r>
            <a:br>
              <a:rPr lang="es" sz="1250">
                <a:solidFill>
                  <a:schemeClr val="dk1"/>
                </a:solidFill>
              </a:rPr>
            </a:br>
            <a:endParaRPr sz="1250">
              <a:solidFill>
                <a:schemeClr val="dk1"/>
              </a:solidFill>
            </a:endParaRPr>
          </a:p>
          <a:p>
            <a:pPr indent="0" lvl="0" marL="0" rtl="0" algn="l">
              <a:spcBef>
                <a:spcPts val="1200"/>
              </a:spcBef>
              <a:spcAft>
                <a:spcPts val="0"/>
              </a:spcAft>
              <a:buClr>
                <a:schemeClr val="dk1"/>
              </a:buClr>
              <a:buSzPct val="88000"/>
              <a:buFont typeface="Arial"/>
              <a:buNone/>
            </a:pPr>
            <a:r>
              <a:rPr b="1" lang="es" sz="1250">
                <a:solidFill>
                  <a:schemeClr val="dk1"/>
                </a:solidFill>
              </a:rPr>
              <a:t>Conclusión</a:t>
            </a:r>
            <a:r>
              <a:rPr lang="es" sz="1250">
                <a:solidFill>
                  <a:schemeClr val="dk1"/>
                </a:solidFill>
              </a:rPr>
              <a:t>:</a:t>
            </a:r>
            <a:br>
              <a:rPr lang="es" sz="1250">
                <a:solidFill>
                  <a:schemeClr val="dk1"/>
                </a:solidFill>
              </a:rPr>
            </a:br>
            <a:r>
              <a:rPr lang="es" sz="1250">
                <a:solidFill>
                  <a:schemeClr val="dk1"/>
                </a:solidFill>
              </a:rPr>
              <a:t> La evidencia respalda la hipótesis H2: las tasas de interés funcionan como un predictor clave del riesgo crediticio, y los préstamos adjudicados a mayor costo presentan mayor probabilidad de default.</a:t>
            </a:r>
            <a:endParaRPr sz="125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234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logística (H1 y H3)</a:t>
            </a:r>
            <a:endParaRPr/>
          </a:p>
        </p:txBody>
      </p:sp>
      <p:sp>
        <p:nvSpPr>
          <p:cNvPr id="124" name="Google Shape;124;p24"/>
          <p:cNvSpPr txBox="1"/>
          <p:nvPr>
            <p:ph idx="1" type="body"/>
          </p:nvPr>
        </p:nvSpPr>
        <p:spPr>
          <a:xfrm>
            <a:off x="311700" y="863550"/>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ts val="275"/>
              <a:buFont typeface="Arial"/>
              <a:buNone/>
            </a:pPr>
            <a:r>
              <a:rPr lang="es" sz="4400">
                <a:solidFill>
                  <a:schemeClr val="dk1"/>
                </a:solidFill>
              </a:rPr>
              <a:t>La regresión logística se utilizó para modelar la probabilidad de default en función de características financieras y sociodemográficas.</a:t>
            </a:r>
            <a:endParaRPr sz="4400">
              <a:solidFill>
                <a:schemeClr val="dk1"/>
              </a:solidFill>
            </a:endParaRPr>
          </a:p>
          <a:p>
            <a:pPr indent="0" lvl="0" marL="0" rtl="0" algn="l">
              <a:spcBef>
                <a:spcPts val="1200"/>
              </a:spcBef>
              <a:spcAft>
                <a:spcPts val="0"/>
              </a:spcAft>
              <a:buClr>
                <a:schemeClr val="dk1"/>
              </a:buClr>
              <a:buSzPts val="275"/>
              <a:buFont typeface="Arial"/>
              <a:buNone/>
            </a:pPr>
            <a:r>
              <a:rPr b="1" lang="es" sz="4400">
                <a:solidFill>
                  <a:schemeClr val="dk1"/>
                </a:solidFill>
              </a:rPr>
              <a:t>Principales resultados del modelo (H1):</a:t>
            </a:r>
            <a:endParaRPr b="1" sz="4400">
              <a:solidFill>
                <a:schemeClr val="dk1"/>
              </a:solidFill>
            </a:endParaRPr>
          </a:p>
          <a:p>
            <a:pPr indent="-298450" lvl="0" marL="457200" rtl="0" algn="l">
              <a:spcBef>
                <a:spcPts val="1200"/>
              </a:spcBef>
              <a:spcAft>
                <a:spcPts val="0"/>
              </a:spcAft>
              <a:buClr>
                <a:schemeClr val="dk1"/>
              </a:buClr>
              <a:buSzPct val="100000"/>
              <a:buChar char="●"/>
            </a:pPr>
            <a:r>
              <a:rPr lang="es" sz="4400">
                <a:solidFill>
                  <a:srgbClr val="188038"/>
                </a:solidFill>
                <a:latin typeface="Roboto Mono"/>
                <a:ea typeface="Roboto Mono"/>
                <a:cs typeface="Roboto Mono"/>
                <a:sym typeface="Roboto Mono"/>
              </a:rPr>
              <a:t>loan_percent_income</a:t>
            </a:r>
            <a:r>
              <a:rPr lang="es" sz="4400">
                <a:solidFill>
                  <a:schemeClr val="dk1"/>
                </a:solidFill>
              </a:rPr>
              <a:t> ( + ): un mayor porcentaje del ingreso comprometido aumenta significativamente la probabilidad de default.</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rgbClr val="188038"/>
                </a:solidFill>
                <a:latin typeface="Roboto Mono"/>
                <a:ea typeface="Roboto Mono"/>
                <a:cs typeface="Roboto Mono"/>
                <a:sym typeface="Roboto Mono"/>
              </a:rPr>
              <a:t>loan_int_rate</a:t>
            </a:r>
            <a:r>
              <a:rPr lang="es" sz="4400">
                <a:solidFill>
                  <a:schemeClr val="dk1"/>
                </a:solidFill>
              </a:rPr>
              <a:t> ( + ): las tasas de interés más altas incrementan el riesgo crediticio.</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rgbClr val="188038"/>
                </a:solidFill>
                <a:latin typeface="Roboto Mono"/>
                <a:ea typeface="Roboto Mono"/>
                <a:cs typeface="Roboto Mono"/>
                <a:sym typeface="Roboto Mono"/>
              </a:rPr>
              <a:t>person_income</a:t>
            </a:r>
            <a:r>
              <a:rPr lang="es" sz="4400">
                <a:solidFill>
                  <a:schemeClr val="dk1"/>
                </a:solidFill>
              </a:rPr>
              <a:t> ( – ): mayores ingresos reducen la probabilidad de incumplimiento.</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rgbClr val="188038"/>
                </a:solidFill>
                <a:latin typeface="Roboto Mono"/>
                <a:ea typeface="Roboto Mono"/>
                <a:cs typeface="Roboto Mono"/>
                <a:sym typeface="Roboto Mono"/>
              </a:rPr>
              <a:t>person_emp_length</a:t>
            </a:r>
            <a:r>
              <a:rPr lang="es" sz="4400">
                <a:solidFill>
                  <a:schemeClr val="dk1"/>
                </a:solidFill>
              </a:rPr>
              <a:t> ( – ): mayor estabilidad laboral se asocia a menor riesgo.</a:t>
            </a:r>
            <a:endParaRPr sz="4400">
              <a:solidFill>
                <a:schemeClr val="dk1"/>
              </a:solidFill>
            </a:endParaRPr>
          </a:p>
          <a:p>
            <a:pPr indent="0" lvl="0" marL="0" rtl="0" algn="l">
              <a:spcBef>
                <a:spcPts val="1200"/>
              </a:spcBef>
              <a:spcAft>
                <a:spcPts val="0"/>
              </a:spcAft>
              <a:buClr>
                <a:schemeClr val="dk1"/>
              </a:buClr>
              <a:buSzPts val="275"/>
              <a:buFont typeface="Arial"/>
              <a:buNone/>
            </a:pPr>
            <a:r>
              <a:rPr b="1" lang="es" sz="4400">
                <a:solidFill>
                  <a:schemeClr val="dk1"/>
                </a:solidFill>
              </a:rPr>
              <a:t>Variables categóricas (H3):</a:t>
            </a:r>
            <a:br>
              <a:rPr b="1" lang="es" sz="4400">
                <a:solidFill>
                  <a:schemeClr val="dk1"/>
                </a:solidFill>
              </a:rPr>
            </a:br>
            <a:r>
              <a:rPr lang="es" sz="4400">
                <a:solidFill>
                  <a:schemeClr val="dk1"/>
                </a:solidFill>
              </a:rPr>
              <a:t> La variable </a:t>
            </a:r>
            <a:r>
              <a:rPr lang="es" sz="4400">
                <a:solidFill>
                  <a:srgbClr val="188038"/>
                </a:solidFill>
                <a:latin typeface="Roboto Mono"/>
                <a:ea typeface="Roboto Mono"/>
                <a:cs typeface="Roboto Mono"/>
                <a:sym typeface="Roboto Mono"/>
              </a:rPr>
              <a:t>loan_intent</a:t>
            </a:r>
            <a:r>
              <a:rPr lang="es" sz="4400">
                <a:solidFill>
                  <a:schemeClr val="dk1"/>
                </a:solidFill>
              </a:rPr>
              <a:t> muestra que ciertos destinos del préstamo presentan mayor probabilidad de default (</a:t>
            </a:r>
            <a:r>
              <a:rPr i="1" lang="es" sz="4400">
                <a:solidFill>
                  <a:schemeClr val="dk1"/>
                </a:solidFill>
              </a:rPr>
              <a:t>debt_consolidation</a:t>
            </a:r>
            <a:r>
              <a:rPr lang="es" sz="4400">
                <a:solidFill>
                  <a:schemeClr val="dk1"/>
                </a:solidFill>
              </a:rPr>
              <a:t>, </a:t>
            </a:r>
            <a:r>
              <a:rPr i="1" lang="es" sz="4400">
                <a:solidFill>
                  <a:schemeClr val="dk1"/>
                </a:solidFill>
              </a:rPr>
              <a:t>medical</a:t>
            </a:r>
            <a:r>
              <a:rPr lang="es" sz="4400">
                <a:solidFill>
                  <a:schemeClr val="dk1"/>
                </a:solidFill>
              </a:rPr>
              <a:t>), lo cual coincide con los patrones observados en el EDA.</a:t>
            </a:r>
            <a:endParaRPr sz="4400">
              <a:solidFill>
                <a:schemeClr val="dk1"/>
              </a:solidFill>
            </a:endParaRPr>
          </a:p>
          <a:p>
            <a:pPr indent="0" lvl="0" marL="0" rtl="0" algn="l">
              <a:spcBef>
                <a:spcPts val="1200"/>
              </a:spcBef>
              <a:spcAft>
                <a:spcPts val="0"/>
              </a:spcAft>
              <a:buClr>
                <a:schemeClr val="dk1"/>
              </a:buClr>
              <a:buSzPts val="275"/>
              <a:buFont typeface="Arial"/>
              <a:buNone/>
            </a:pPr>
            <a:r>
              <a:rPr b="1" lang="es" sz="4400">
                <a:solidFill>
                  <a:schemeClr val="dk1"/>
                </a:solidFill>
              </a:rPr>
              <a:t>Interpretación general:</a:t>
            </a:r>
            <a:endParaRPr b="1" sz="4400">
              <a:solidFill>
                <a:schemeClr val="dk1"/>
              </a:solidFill>
            </a:endParaRPr>
          </a:p>
          <a:p>
            <a:pPr indent="-298450" lvl="0" marL="457200" rtl="0" algn="l">
              <a:spcBef>
                <a:spcPts val="1200"/>
              </a:spcBef>
              <a:spcAft>
                <a:spcPts val="0"/>
              </a:spcAft>
              <a:buClr>
                <a:schemeClr val="dk1"/>
              </a:buClr>
              <a:buSzPct val="100000"/>
              <a:buChar char="●"/>
            </a:pPr>
            <a:r>
              <a:rPr lang="es" sz="4400">
                <a:solidFill>
                  <a:schemeClr val="dk1"/>
                </a:solidFill>
              </a:rPr>
              <a:t>El modelo es estadísticamente significativo.</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chemeClr val="dk1"/>
                </a:solidFill>
              </a:rPr>
              <a:t>Los coeficientes estimados siguen el sentido esperado desde un punto de vista económico.</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chemeClr val="dk1"/>
                </a:solidFill>
              </a:rPr>
              <a:t>La regresión confirma parcialmente la hipótesis H1 y también respalda H3.</a:t>
            </a:r>
            <a:endParaRPr sz="4400">
              <a:solidFill>
                <a:schemeClr val="dk1"/>
              </a:solidFill>
            </a:endParaRPr>
          </a:p>
          <a:p>
            <a:pPr indent="0" lvl="0" marL="0" rtl="0" algn="l">
              <a:spcBef>
                <a:spcPts val="1200"/>
              </a:spcBef>
              <a:spcAft>
                <a:spcPts val="0"/>
              </a:spcAft>
              <a:buClr>
                <a:schemeClr val="dk1"/>
              </a:buClr>
              <a:buSzPts val="275"/>
              <a:buFont typeface="Arial"/>
              <a:buNone/>
            </a:pPr>
            <a:r>
              <a:rPr b="1" lang="es" sz="4400">
                <a:solidFill>
                  <a:schemeClr val="dk1"/>
                </a:solidFill>
              </a:rPr>
              <a:t>Métricas relevantes:</a:t>
            </a:r>
            <a:endParaRPr b="1" sz="4400">
              <a:solidFill>
                <a:schemeClr val="dk1"/>
              </a:solidFill>
            </a:endParaRPr>
          </a:p>
          <a:p>
            <a:pPr indent="-298450" lvl="0" marL="457200" rtl="0" algn="l">
              <a:spcBef>
                <a:spcPts val="1200"/>
              </a:spcBef>
              <a:spcAft>
                <a:spcPts val="0"/>
              </a:spcAft>
              <a:buClr>
                <a:schemeClr val="dk1"/>
              </a:buClr>
              <a:buSzPct val="100000"/>
              <a:buChar char="●"/>
            </a:pPr>
            <a:r>
              <a:rPr lang="es" sz="4400">
                <a:solidFill>
                  <a:schemeClr val="dk1"/>
                </a:solidFill>
              </a:rPr>
              <a:t>ROC-AUC ≈ 0,73 → buena capacidad discriminante.</a:t>
            </a:r>
            <a:endParaRPr sz="4400">
              <a:solidFill>
                <a:schemeClr val="dk1"/>
              </a:solidFill>
            </a:endParaRPr>
          </a:p>
          <a:p>
            <a:pPr indent="-298450" lvl="0" marL="457200" rtl="0" algn="l">
              <a:spcBef>
                <a:spcPts val="0"/>
              </a:spcBef>
              <a:spcAft>
                <a:spcPts val="0"/>
              </a:spcAft>
              <a:buClr>
                <a:schemeClr val="dk1"/>
              </a:buClr>
              <a:buSzPct val="100000"/>
              <a:buChar char="●"/>
            </a:pPr>
            <a:r>
              <a:rPr lang="es" sz="4400">
                <a:solidFill>
                  <a:schemeClr val="dk1"/>
                </a:solidFill>
              </a:rPr>
              <a:t>PR-AUC ≈ 0,52 → desempeño razonable considerando el desbalance de clases.</a:t>
            </a:r>
            <a:endParaRPr sz="44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17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Visualizaciones y storytelling:</a:t>
            </a:r>
            <a:endParaRPr/>
          </a:p>
          <a:p>
            <a:pPr indent="0" lvl="0" marL="0" rtl="0" algn="l">
              <a:spcBef>
                <a:spcPts val="0"/>
              </a:spcBef>
              <a:spcAft>
                <a:spcPts val="0"/>
              </a:spcAft>
              <a:buNone/>
            </a:pPr>
            <a:r>
              <a:rPr lang="es"/>
              <a:t>2.1 -  Tasa de default por quintil de ingreso</a:t>
            </a:r>
            <a:endParaRPr/>
          </a:p>
        </p:txBody>
      </p:sp>
      <p:pic>
        <p:nvPicPr>
          <p:cNvPr id="130" name="Google Shape;130;p25"/>
          <p:cNvPicPr preferRelativeResize="0"/>
          <p:nvPr/>
        </p:nvPicPr>
        <p:blipFill>
          <a:blip r:embed="rId3">
            <a:alphaModFix/>
          </a:blip>
          <a:stretch>
            <a:fillRect/>
          </a:stretch>
        </p:blipFill>
        <p:spPr>
          <a:xfrm>
            <a:off x="311700" y="1017725"/>
            <a:ext cx="5719424" cy="3728251"/>
          </a:xfrm>
          <a:prstGeom prst="rect">
            <a:avLst/>
          </a:prstGeom>
          <a:noFill/>
          <a:ln>
            <a:noFill/>
          </a:ln>
        </p:spPr>
      </p:pic>
      <p:sp>
        <p:nvSpPr>
          <p:cNvPr id="131" name="Google Shape;131;p25"/>
          <p:cNvSpPr txBox="1"/>
          <p:nvPr/>
        </p:nvSpPr>
        <p:spPr>
          <a:xfrm>
            <a:off x="5630275" y="1119550"/>
            <a:ext cx="3756300" cy="42867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s" sz="1500">
                <a:solidFill>
                  <a:schemeClr val="dk2"/>
                </a:solidFill>
              </a:rPr>
              <a:t>La probabilidad de default disminuye de manera clara y sistemática a medida que aumenta el nivel de ingreso. El primer quintil presenta una tasa de incumplimiento marcadamente más alta que los quintiles superiores. Esta relación respalda la hipótesis de que la capacidad económica del solicitante es un determinante central del riesgo crediticio y constituye uno de los hallazgos más relevantes del análisis.</a:t>
            </a:r>
            <a:endParaRPr sz="1500">
              <a:solidFill>
                <a:schemeClr val="dk2"/>
              </a:solidFill>
            </a:endParaRPr>
          </a:p>
          <a:p>
            <a:pPr indent="0" lvl="0" marL="0" rtl="0" algn="l">
              <a:spcBef>
                <a:spcPts val="1200"/>
              </a:spcBef>
              <a:spcAft>
                <a:spcPts val="0"/>
              </a:spcAft>
              <a:buNone/>
            </a:pPr>
            <a:r>
              <a:t/>
            </a:r>
            <a:endParaRPr sz="15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2.2 - Tasa de interés por estado del préstamo</a:t>
            </a:r>
            <a:endParaRPr/>
          </a:p>
        </p:txBody>
      </p:sp>
      <p:pic>
        <p:nvPicPr>
          <p:cNvPr id="137" name="Google Shape;137;p26"/>
          <p:cNvPicPr preferRelativeResize="0"/>
          <p:nvPr/>
        </p:nvPicPr>
        <p:blipFill>
          <a:blip r:embed="rId3">
            <a:alphaModFix/>
          </a:blip>
          <a:stretch>
            <a:fillRect/>
          </a:stretch>
        </p:blipFill>
        <p:spPr>
          <a:xfrm>
            <a:off x="152400" y="1017725"/>
            <a:ext cx="5746202" cy="3712024"/>
          </a:xfrm>
          <a:prstGeom prst="rect">
            <a:avLst/>
          </a:prstGeom>
          <a:noFill/>
          <a:ln>
            <a:noFill/>
          </a:ln>
        </p:spPr>
      </p:pic>
      <p:sp>
        <p:nvSpPr>
          <p:cNvPr id="138" name="Google Shape;138;p26"/>
          <p:cNvSpPr txBox="1"/>
          <p:nvPr/>
        </p:nvSpPr>
        <p:spPr>
          <a:xfrm>
            <a:off x="5549125" y="1017725"/>
            <a:ext cx="3691500" cy="43329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s" sz="1500">
                <a:solidFill>
                  <a:schemeClr val="dk2"/>
                </a:solidFill>
              </a:rPr>
              <a:t>Los préstamos que terminan en default presentan tasas de interés significativamente más altas que los préstamos pagados normalmente. La mediana y los cuantiles superiores del grupo moroso se ubican muy por encima de los del grupo no moroso. Este patrón coincide con el resultado del test de hipótesis, que confirma que la tasa de interés funciona como un fuerte predictor del riesgo crediticio.</a:t>
            </a:r>
            <a:endParaRPr sz="15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56800" y="63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a:t>
            </a:r>
            <a:endParaRPr/>
          </a:p>
        </p:txBody>
      </p:sp>
      <p:sp>
        <p:nvSpPr>
          <p:cNvPr id="144" name="Google Shape;144;p27"/>
          <p:cNvSpPr txBox="1"/>
          <p:nvPr/>
        </p:nvSpPr>
        <p:spPr>
          <a:xfrm>
            <a:off x="56800" y="733975"/>
            <a:ext cx="4673100" cy="3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s" sz="1000">
                <a:solidFill>
                  <a:schemeClr val="dk1"/>
                </a:solidFill>
              </a:rPr>
              <a:t>Conclusiones generales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s" sz="1000">
                <a:solidFill>
                  <a:schemeClr val="dk1"/>
                </a:solidFill>
              </a:rPr>
              <a:t>Las capacidades financieras del solicitante (ingreso, % ingreso comprometido) son determinantes clave del riesgo.</a:t>
            </a:r>
            <a:br>
              <a:rPr lang="es" sz="1000">
                <a:solidFill>
                  <a:schemeClr val="dk1"/>
                </a:solidFill>
              </a:rPr>
            </a:br>
            <a:r>
              <a:rPr lang="es" sz="1000">
                <a:solidFill>
                  <a:schemeClr val="dk1"/>
                </a:solidFill>
              </a:rPr>
              <a:t>Las condiciones del préstamo (tasa de interés, intención del préstamo) también explican diferencias sistemáticas en el default.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La limpieza del dataset no alteró las conclusiones principales y fortaleció la robustez del análisis.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La regresión logística, pese al desbalance de clases, ofrece un desempeño sólido y fácilmente interpretable.</a:t>
            </a:r>
            <a:endParaRPr b="1"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s" sz="1000">
                <a:solidFill>
                  <a:schemeClr val="dk1"/>
                </a:solidFill>
              </a:rPr>
              <a:t>H1:</a:t>
            </a:r>
            <a:r>
              <a:rPr lang="es" sz="1000">
                <a:solidFill>
                  <a:schemeClr val="dk1"/>
                </a:solidFill>
              </a:rPr>
              <a:t> Se confirma parcialmente. La probabilidad de default aumenta con la tasa de interés y la proporción del ingreso comprometida, y disminuye con mayores niveles de ingreso y antigüedad laboral.</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s" sz="1000">
                <a:solidFill>
                  <a:schemeClr val="dk1"/>
                </a:solidFill>
              </a:rPr>
              <a:t>H2:</a:t>
            </a:r>
            <a:r>
              <a:rPr lang="es" sz="1000">
                <a:solidFill>
                  <a:schemeClr val="dk1"/>
                </a:solidFill>
              </a:rPr>
              <a:t> Se confirma. La tasa de interés promedio es significativamente mayor entre los préstamos que terminan en default.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s" sz="1000">
                <a:solidFill>
                  <a:schemeClr val="dk1"/>
                </a:solidFill>
              </a:rPr>
              <a:t>H3:</a:t>
            </a:r>
            <a:r>
              <a:rPr lang="es" sz="1000">
                <a:solidFill>
                  <a:schemeClr val="dk1"/>
                </a:solidFill>
              </a:rPr>
              <a:t> Se encuentra evidencia de que ciertos objetivos del préstamo presentan una tasa de default mayor, aunque los efectos varían por categoría.</a:t>
            </a:r>
            <a:endParaRPr sz="10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145" name="Google Shape;145;p27"/>
          <p:cNvSpPr txBox="1"/>
          <p:nvPr/>
        </p:nvSpPr>
        <p:spPr>
          <a:xfrm>
            <a:off x="4673100" y="164650"/>
            <a:ext cx="4262700" cy="20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s" sz="1000">
                <a:solidFill>
                  <a:schemeClr val="dk1"/>
                </a:solidFill>
              </a:rPr>
              <a:t>Principales hallazgos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s" sz="1000">
                <a:solidFill>
                  <a:schemeClr val="dk1"/>
                </a:solidFill>
              </a:rPr>
              <a:t>El modelo de regresión logística con variables financieras y socioeconómicas alcanza un ROC-AUC ≈ 0,73 y PR-AUC ≈ 0,52, niveles razonables para un modelo base.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Las variables relacionadas con capacidad de pago y condiciones financieras del préstamo son las más influyentes en el riesgo.</a:t>
            </a:r>
            <a:endParaRPr sz="10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146" name="Google Shape;146;p27"/>
          <p:cNvSpPr txBox="1"/>
          <p:nvPr/>
        </p:nvSpPr>
        <p:spPr>
          <a:xfrm>
            <a:off x="4673100" y="1784800"/>
            <a:ext cx="3967200" cy="320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s" sz="1000">
                <a:solidFill>
                  <a:schemeClr val="dk1"/>
                </a:solidFill>
              </a:rPr>
              <a:t>Limitaciones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s" sz="1000">
                <a:solidFill>
                  <a:schemeClr val="dk1"/>
                </a:solidFill>
              </a:rPr>
              <a:t>Desbalance de clases (pocos morosos).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Posibles relaciones no lineales e interacciones no modeladas.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Falta de dimensión temporal (no se observa evolución del cliente en el tiempo).</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sz="1000">
                <a:solidFill>
                  <a:schemeClr val="dk1"/>
                </a:solidFill>
              </a:rPr>
              <a:t>Futuras líneas de análisis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s" sz="1000">
                <a:solidFill>
                  <a:schemeClr val="dk1"/>
                </a:solidFill>
              </a:rPr>
              <a:t>Comparar con modelos no lineales (Random Forest, XGBoost).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Aplicar técnicas de rebalanceo (SMOTE, </a:t>
            </a:r>
            <a:r>
              <a:rPr i="1" lang="es" sz="1000">
                <a:solidFill>
                  <a:schemeClr val="dk1"/>
                </a:solidFill>
              </a:rPr>
              <a:t>class weights</a:t>
            </a:r>
            <a:r>
              <a:rPr lang="es" sz="1000">
                <a:solidFill>
                  <a:schemeClr val="dk1"/>
                </a:solidFill>
              </a:rPr>
              <a: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s" sz="1000">
                <a:solidFill>
                  <a:schemeClr val="dk1"/>
                </a:solidFill>
              </a:rPr>
              <a:t>Incorporar variables adicionales (historial de pagos, macro, etc.) y evaluar fairness por subgrupos.</a:t>
            </a:r>
            <a:endParaRPr sz="10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0" y="-33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Descripción del dataset</a:t>
            </a:r>
            <a:endParaRPr/>
          </a:p>
        </p:txBody>
      </p:sp>
      <p:sp>
        <p:nvSpPr>
          <p:cNvPr id="152" name="Google Shape;152;p28"/>
          <p:cNvSpPr txBox="1"/>
          <p:nvPr>
            <p:ph idx="1" type="body"/>
          </p:nvPr>
        </p:nvSpPr>
        <p:spPr>
          <a:xfrm>
            <a:off x="73500" y="393050"/>
            <a:ext cx="899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s" sz="900">
                <a:solidFill>
                  <a:schemeClr val="dk1"/>
                </a:solidFill>
              </a:rPr>
              <a:t>El dataset utilizado proviene de la plataforma Kaggle y contiene información financiera, demográfica y crediticia de solicitantes de préstamos personales.</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Dimensiones del dataset:</a:t>
            </a:r>
            <a:endParaRPr b="1" sz="900">
              <a:solidFill>
                <a:schemeClr val="dk1"/>
              </a:solidFill>
            </a:endParaRPr>
          </a:p>
          <a:p>
            <a:pPr indent="-285750" lvl="0" marL="457200" rtl="0" algn="l">
              <a:spcBef>
                <a:spcPts val="1200"/>
              </a:spcBef>
              <a:spcAft>
                <a:spcPts val="0"/>
              </a:spcAft>
              <a:buClr>
                <a:schemeClr val="dk1"/>
              </a:buClr>
              <a:buSzPts val="900"/>
              <a:buChar char="●"/>
            </a:pPr>
            <a:r>
              <a:rPr lang="es" sz="900">
                <a:solidFill>
                  <a:schemeClr val="dk1"/>
                </a:solidFill>
              </a:rPr>
              <a:t>Observaciones: ~30.000</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chemeClr val="dk1"/>
                </a:solidFill>
              </a:rPr>
              <a:t>Variables: 12</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Variable objetivo:</a:t>
            </a:r>
            <a:endParaRPr b="1" sz="900">
              <a:solidFill>
                <a:schemeClr val="dk1"/>
              </a:solidFill>
            </a:endParaRPr>
          </a:p>
          <a:p>
            <a:pPr indent="-285750" lvl="0" marL="457200" rtl="0" algn="l">
              <a:spcBef>
                <a:spcPts val="1200"/>
              </a:spcBef>
              <a:spcAft>
                <a:spcPts val="0"/>
              </a:spcAft>
              <a:buClr>
                <a:schemeClr val="dk1"/>
              </a:buClr>
              <a:buSzPts val="900"/>
              <a:buChar char="●"/>
            </a:pPr>
            <a:r>
              <a:rPr lang="es" sz="900">
                <a:solidFill>
                  <a:srgbClr val="188038"/>
                </a:solidFill>
                <a:latin typeface="Roboto Mono"/>
                <a:ea typeface="Roboto Mono"/>
                <a:cs typeface="Roboto Mono"/>
                <a:sym typeface="Roboto Mono"/>
              </a:rPr>
              <a:t>loan_status</a:t>
            </a:r>
            <a:r>
              <a:rPr lang="es" sz="900">
                <a:solidFill>
                  <a:schemeClr val="dk1"/>
                </a:solidFill>
              </a:rPr>
              <a:t> (0 = No moroso, 1 = Moroso)</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Variables numéricas principales:</a:t>
            </a:r>
            <a:endParaRPr b="1" sz="900">
              <a:solidFill>
                <a:schemeClr val="dk1"/>
              </a:solidFill>
            </a:endParaRPr>
          </a:p>
          <a:p>
            <a:pPr indent="-285750" lvl="0" marL="457200" rtl="0" algn="l">
              <a:spcBef>
                <a:spcPts val="1200"/>
              </a:spcBef>
              <a:spcAft>
                <a:spcPts val="0"/>
              </a:spcAft>
              <a:buClr>
                <a:schemeClr val="dk1"/>
              </a:buClr>
              <a:buSzPts val="900"/>
              <a:buChar char="●"/>
            </a:pPr>
            <a:r>
              <a:rPr lang="es" sz="900">
                <a:solidFill>
                  <a:srgbClr val="188038"/>
                </a:solidFill>
                <a:latin typeface="Roboto Mono"/>
                <a:ea typeface="Roboto Mono"/>
                <a:cs typeface="Roboto Mono"/>
                <a:sym typeface="Roboto Mono"/>
              </a:rPr>
              <a:t>person_age</a:t>
            </a:r>
            <a:r>
              <a:rPr lang="es" sz="900">
                <a:solidFill>
                  <a:schemeClr val="dk1"/>
                </a:solidFill>
              </a:rPr>
              <a:t>: edad del solicitante</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person_income</a:t>
            </a:r>
            <a:r>
              <a:rPr lang="es" sz="900">
                <a:solidFill>
                  <a:schemeClr val="dk1"/>
                </a:solidFill>
              </a:rPr>
              <a:t>: ingreso anual</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loan_amnt</a:t>
            </a:r>
            <a:r>
              <a:rPr lang="es" sz="900">
                <a:solidFill>
                  <a:schemeClr val="dk1"/>
                </a:solidFill>
              </a:rPr>
              <a:t>: monto solicitado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loan_int_rate</a:t>
            </a:r>
            <a:r>
              <a:rPr lang="es" sz="900">
                <a:solidFill>
                  <a:schemeClr val="dk1"/>
                </a:solidFill>
              </a:rPr>
              <a:t>: tasa de interés del préstamo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loan_percent_income</a:t>
            </a:r>
            <a:r>
              <a:rPr lang="es" sz="900">
                <a:solidFill>
                  <a:schemeClr val="dk1"/>
                </a:solidFill>
              </a:rPr>
              <a:t>: proporción del ingreso destinada al pago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person_emp_length</a:t>
            </a:r>
            <a:r>
              <a:rPr lang="es" sz="900">
                <a:solidFill>
                  <a:schemeClr val="dk1"/>
                </a:solidFill>
              </a:rPr>
              <a:t>: antigüedad laboral</a:t>
            </a:r>
            <a:br>
              <a:rPr lang="es" sz="900">
                <a:solidFill>
                  <a:schemeClr val="dk1"/>
                </a:solidFill>
              </a:rPr>
            </a:br>
            <a:r>
              <a:rPr lang="es" sz="900">
                <a:solidFill>
                  <a:srgbClr val="188038"/>
                </a:solidFill>
                <a:latin typeface="Roboto Mono"/>
                <a:ea typeface="Roboto Mono"/>
                <a:cs typeface="Roboto Mono"/>
                <a:sym typeface="Roboto Mono"/>
              </a:rPr>
              <a:t>cb_person_cred_hist_length</a:t>
            </a:r>
            <a:r>
              <a:rPr lang="es" sz="900">
                <a:solidFill>
                  <a:schemeClr val="dk1"/>
                </a:solidFill>
              </a:rPr>
              <a:t>: historial crediticio previo</a:t>
            </a:r>
            <a:endParaRPr sz="900">
              <a:solidFill>
                <a:schemeClr val="dk1"/>
              </a:solidFill>
            </a:endParaRPr>
          </a:p>
          <a:p>
            <a:pPr indent="0" lvl="0" marL="0" rtl="0" algn="l">
              <a:spcBef>
                <a:spcPts val="1200"/>
              </a:spcBef>
              <a:spcAft>
                <a:spcPts val="0"/>
              </a:spcAft>
              <a:buClr>
                <a:schemeClr val="dk1"/>
              </a:buClr>
              <a:buSzPts val="1100"/>
              <a:buFont typeface="Arial"/>
              <a:buNone/>
            </a:pPr>
            <a:r>
              <a:rPr b="1" lang="es" sz="900">
                <a:solidFill>
                  <a:schemeClr val="dk1"/>
                </a:solidFill>
              </a:rPr>
              <a:t>Variables categóricas:</a:t>
            </a:r>
            <a:endParaRPr b="1" sz="900">
              <a:solidFill>
                <a:schemeClr val="dk1"/>
              </a:solidFill>
            </a:endParaRPr>
          </a:p>
          <a:p>
            <a:pPr indent="-285750" lvl="0" marL="457200" rtl="0" algn="l">
              <a:spcBef>
                <a:spcPts val="1200"/>
              </a:spcBef>
              <a:spcAft>
                <a:spcPts val="0"/>
              </a:spcAft>
              <a:buClr>
                <a:schemeClr val="dk1"/>
              </a:buClr>
              <a:buSzPts val="900"/>
              <a:buChar char="●"/>
            </a:pPr>
            <a:r>
              <a:rPr lang="es" sz="900">
                <a:solidFill>
                  <a:srgbClr val="188038"/>
                </a:solidFill>
                <a:latin typeface="Roboto Mono"/>
                <a:ea typeface="Roboto Mono"/>
                <a:cs typeface="Roboto Mono"/>
                <a:sym typeface="Roboto Mono"/>
              </a:rPr>
              <a:t>person_home_ownership</a:t>
            </a:r>
            <a:r>
              <a:rPr lang="es" sz="900">
                <a:solidFill>
                  <a:schemeClr val="dk1"/>
                </a:solidFill>
              </a:rPr>
              <a:t>: tenencia de vivienda</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loan_intent</a:t>
            </a:r>
            <a:r>
              <a:rPr lang="es" sz="900">
                <a:solidFill>
                  <a:schemeClr val="dk1"/>
                </a:solidFill>
              </a:rPr>
              <a:t>: finalidad del préstamo</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loan_grade</a:t>
            </a:r>
            <a:r>
              <a:rPr lang="es" sz="900">
                <a:solidFill>
                  <a:schemeClr val="dk1"/>
                </a:solidFill>
              </a:rPr>
              <a:t>: calificación crediticia</a:t>
            </a:r>
            <a:endParaRPr sz="900">
              <a:solidFill>
                <a:schemeClr val="dk1"/>
              </a:solidFill>
            </a:endParaRPr>
          </a:p>
          <a:p>
            <a:pPr indent="-285750" lvl="0" marL="457200" rtl="0" algn="l">
              <a:spcBef>
                <a:spcPts val="0"/>
              </a:spcBef>
              <a:spcAft>
                <a:spcPts val="0"/>
              </a:spcAft>
              <a:buClr>
                <a:schemeClr val="dk1"/>
              </a:buClr>
              <a:buSzPts val="900"/>
              <a:buChar char="●"/>
            </a:pPr>
            <a:r>
              <a:rPr lang="es" sz="900">
                <a:solidFill>
                  <a:srgbClr val="188038"/>
                </a:solidFill>
                <a:latin typeface="Roboto Mono"/>
                <a:ea typeface="Roboto Mono"/>
                <a:cs typeface="Roboto Mono"/>
                <a:sym typeface="Roboto Mono"/>
              </a:rPr>
              <a:t>cb_person_default_on_file</a:t>
            </a:r>
            <a:r>
              <a:rPr lang="es" sz="900">
                <a:solidFill>
                  <a:schemeClr val="dk1"/>
                </a:solidFill>
              </a:rPr>
              <a:t>: default previo</a:t>
            </a:r>
            <a:endParaRPr sz="900">
              <a:solidFill>
                <a:schemeClr val="dk1"/>
              </a:solidFill>
            </a:endParaRPr>
          </a:p>
          <a:p>
            <a:pPr indent="0" lvl="0" marL="0" rtl="0" algn="l">
              <a:spcBef>
                <a:spcPts val="1200"/>
              </a:spcBef>
              <a:spcAft>
                <a:spcPts val="0"/>
              </a:spcAft>
              <a:buClr>
                <a:schemeClr val="dk1"/>
              </a:buClr>
              <a:buSzPts val="1100"/>
              <a:buFont typeface="Arial"/>
              <a:buNone/>
            </a:pPr>
            <a:r>
              <a:rPr lang="es" sz="900">
                <a:solidFill>
                  <a:schemeClr val="dk1"/>
                </a:solidFill>
              </a:rPr>
              <a:t>El dataset presenta </a:t>
            </a:r>
            <a:r>
              <a:rPr b="1" lang="es" sz="900">
                <a:solidFill>
                  <a:schemeClr val="dk1"/>
                </a:solidFill>
              </a:rPr>
              <a:t>clase objetivo desbalanceada</a:t>
            </a:r>
            <a:r>
              <a:rPr lang="es" sz="900">
                <a:solidFill>
                  <a:schemeClr val="dk1"/>
                </a:solidFill>
              </a:rPr>
              <a:t> (~8% morosos), una característica importante para evaluar métricas como PR-AUC.</a:t>
            </a:r>
            <a:endParaRPr sz="900">
              <a:solidFill>
                <a:schemeClr val="dk1"/>
              </a:solidFill>
            </a:endParaRPr>
          </a:p>
          <a:p>
            <a:pPr indent="0" lvl="0" marL="0" rtl="0" algn="l">
              <a:spcBef>
                <a:spcPts val="1200"/>
              </a:spcBef>
              <a:spcAft>
                <a:spcPts val="1200"/>
              </a:spcAft>
              <a:buNone/>
            </a:pPr>
            <a:r>
              <a:t/>
            </a:r>
            <a:endParaRPr sz="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121700" y="332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Limitaciones y futuras líneas de análisis</a:t>
            </a:r>
            <a:endParaRPr/>
          </a:p>
        </p:txBody>
      </p:sp>
      <p:sp>
        <p:nvSpPr>
          <p:cNvPr id="158" name="Google Shape;158;p29"/>
          <p:cNvSpPr txBox="1"/>
          <p:nvPr>
            <p:ph idx="1" type="body"/>
          </p:nvPr>
        </p:nvSpPr>
        <p:spPr>
          <a:xfrm>
            <a:off x="311700" y="905300"/>
            <a:ext cx="8520600" cy="3416400"/>
          </a:xfrm>
          <a:prstGeom prst="rect">
            <a:avLst/>
          </a:prstGeom>
        </p:spPr>
        <p:txBody>
          <a:bodyPr anchorCtr="0" anchor="t" bIns="91425" lIns="91425" spcFirstLastPara="1" rIns="91425" wrap="square" tIns="91425">
            <a:normAutofit fontScale="25000" lnSpcReduction="10000"/>
          </a:bodyPr>
          <a:lstStyle/>
          <a:p>
            <a:pPr indent="0" lvl="0" marL="0" rtl="0" algn="l">
              <a:spcBef>
                <a:spcPts val="1200"/>
              </a:spcBef>
              <a:spcAft>
                <a:spcPts val="0"/>
              </a:spcAft>
              <a:buClr>
                <a:schemeClr val="dk1"/>
              </a:buClr>
              <a:buSzPct val="25581"/>
              <a:buFont typeface="Arial"/>
              <a:buNone/>
            </a:pPr>
            <a:r>
              <a:rPr b="1" lang="es" sz="4300">
                <a:solidFill>
                  <a:schemeClr val="dk1"/>
                </a:solidFill>
              </a:rPr>
              <a:t>Limitaciones del análisis:</a:t>
            </a:r>
            <a:endParaRPr b="1" sz="4300">
              <a:solidFill>
                <a:schemeClr val="dk1"/>
              </a:solidFill>
            </a:endParaRPr>
          </a:p>
          <a:p>
            <a:pPr indent="-296862" lvl="0" marL="457200" rtl="0" algn="l">
              <a:spcBef>
                <a:spcPts val="1200"/>
              </a:spcBef>
              <a:spcAft>
                <a:spcPts val="0"/>
              </a:spcAft>
              <a:buClr>
                <a:schemeClr val="dk1"/>
              </a:buClr>
              <a:buSzPct val="100000"/>
              <a:buChar char="●"/>
            </a:pPr>
            <a:r>
              <a:rPr lang="es" sz="4300">
                <a:solidFill>
                  <a:schemeClr val="dk1"/>
                </a:solidFill>
              </a:rPr>
              <a:t>El dataset presenta un </a:t>
            </a:r>
            <a:r>
              <a:rPr b="1" lang="es" sz="4300">
                <a:solidFill>
                  <a:schemeClr val="dk1"/>
                </a:solidFill>
              </a:rPr>
              <a:t>alto desbalance</a:t>
            </a:r>
            <a:r>
              <a:rPr lang="es" sz="4300">
                <a:solidFill>
                  <a:schemeClr val="dk1"/>
                </a:solidFill>
              </a:rPr>
              <a:t> entre morosos y no morosos, lo que afecta métricas como PR-AUC.</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No se modelaron </a:t>
            </a:r>
            <a:r>
              <a:rPr b="1" lang="es" sz="4300">
                <a:solidFill>
                  <a:schemeClr val="dk1"/>
                </a:solidFill>
              </a:rPr>
              <a:t>relaciones no lineales</a:t>
            </a:r>
            <a:r>
              <a:rPr lang="es" sz="4300">
                <a:solidFill>
                  <a:schemeClr val="dk1"/>
                </a:solidFill>
              </a:rPr>
              <a:t> ni interacciones entre variables, que podrían mejorar la capacidad predictiva.</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El conjunto de datos carece de </a:t>
            </a:r>
            <a:r>
              <a:rPr b="1" lang="es" sz="4300">
                <a:solidFill>
                  <a:schemeClr val="dk1"/>
                </a:solidFill>
              </a:rPr>
              <a:t>dimensión temporal</a:t>
            </a:r>
            <a:r>
              <a:rPr lang="es" sz="4300">
                <a:solidFill>
                  <a:schemeClr val="dk1"/>
                </a:solidFill>
              </a:rPr>
              <a:t>, lo que impide analizar evolución histórica o comportamiento dinámico del solicitante.</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Sólo se cuenta con variables financieras básicas; información adicional (puntaje crediticio real, historial de pagos, sector laboral) podría mejorar el modelo.</a:t>
            </a:r>
            <a:br>
              <a:rPr lang="es" sz="4300">
                <a:solidFill>
                  <a:schemeClr val="dk1"/>
                </a:solidFill>
              </a:rPr>
            </a:br>
            <a:endParaRPr sz="4300">
              <a:solidFill>
                <a:schemeClr val="dk1"/>
              </a:solidFill>
            </a:endParaRPr>
          </a:p>
          <a:p>
            <a:pPr indent="0" lvl="0" marL="0" rtl="0" algn="l">
              <a:spcBef>
                <a:spcPts val="1200"/>
              </a:spcBef>
              <a:spcAft>
                <a:spcPts val="0"/>
              </a:spcAft>
              <a:buClr>
                <a:schemeClr val="dk1"/>
              </a:buClr>
              <a:buSzPct val="25581"/>
              <a:buFont typeface="Arial"/>
              <a:buNone/>
            </a:pPr>
            <a:r>
              <a:rPr b="1" lang="es" sz="4300">
                <a:solidFill>
                  <a:schemeClr val="dk1"/>
                </a:solidFill>
              </a:rPr>
              <a:t>Futuras líneas de investigación:</a:t>
            </a:r>
            <a:endParaRPr b="1" sz="4300">
              <a:solidFill>
                <a:schemeClr val="dk1"/>
              </a:solidFill>
            </a:endParaRPr>
          </a:p>
          <a:p>
            <a:pPr indent="-296862" lvl="0" marL="457200" rtl="0" algn="l">
              <a:spcBef>
                <a:spcPts val="1200"/>
              </a:spcBef>
              <a:spcAft>
                <a:spcPts val="0"/>
              </a:spcAft>
              <a:buClr>
                <a:schemeClr val="dk1"/>
              </a:buClr>
              <a:buSzPct val="100000"/>
              <a:buChar char="●"/>
            </a:pPr>
            <a:r>
              <a:rPr lang="es" sz="4300">
                <a:solidFill>
                  <a:schemeClr val="dk1"/>
                </a:solidFill>
              </a:rPr>
              <a:t>Aplicar modelos no lineales como </a:t>
            </a:r>
            <a:r>
              <a:rPr b="1" lang="es" sz="4300">
                <a:solidFill>
                  <a:schemeClr val="dk1"/>
                </a:solidFill>
              </a:rPr>
              <a:t>Random Forest</a:t>
            </a:r>
            <a:r>
              <a:rPr lang="es" sz="4300">
                <a:solidFill>
                  <a:schemeClr val="dk1"/>
                </a:solidFill>
              </a:rPr>
              <a:t> o </a:t>
            </a:r>
            <a:r>
              <a:rPr b="1" lang="es" sz="4300">
                <a:solidFill>
                  <a:schemeClr val="dk1"/>
                </a:solidFill>
              </a:rPr>
              <a:t>XGBoost</a:t>
            </a:r>
            <a:r>
              <a:rPr lang="es" sz="4300">
                <a:solidFill>
                  <a:schemeClr val="dk1"/>
                </a:solidFill>
              </a:rPr>
              <a:t> para mejorar el desempeño.</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Implementar técnicas de rebalanceo: </a:t>
            </a:r>
            <a:r>
              <a:rPr b="1" lang="es" sz="4300">
                <a:solidFill>
                  <a:schemeClr val="dk1"/>
                </a:solidFill>
              </a:rPr>
              <a:t>SMOTE</a:t>
            </a:r>
            <a:r>
              <a:rPr lang="es" sz="4300">
                <a:solidFill>
                  <a:schemeClr val="dk1"/>
                </a:solidFill>
              </a:rPr>
              <a:t>, undersampling o class weights.</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Evaluar fairness del modelo por grupos sociodemográficos para evitar sesgos.</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Incorporar análisis temporal si se dispusiera de datos longitudinales.</a:t>
            </a:r>
            <a:endParaRPr sz="4300">
              <a:solidFill>
                <a:schemeClr val="dk1"/>
              </a:solidFill>
            </a:endParaRPr>
          </a:p>
          <a:p>
            <a:pPr indent="-296862" lvl="0" marL="457200" rtl="0" algn="l">
              <a:spcBef>
                <a:spcPts val="0"/>
              </a:spcBef>
              <a:spcAft>
                <a:spcPts val="0"/>
              </a:spcAft>
              <a:buClr>
                <a:schemeClr val="dk1"/>
              </a:buClr>
              <a:buSzPct val="100000"/>
              <a:buChar char="●"/>
            </a:pPr>
            <a:r>
              <a:rPr lang="es" sz="4300">
                <a:solidFill>
                  <a:schemeClr val="dk1"/>
                </a:solidFill>
              </a:rPr>
              <a:t>Construir un modelo de costos para evaluar decisiones óptimas en otorgamiento de préstamos.</a:t>
            </a:r>
            <a:endParaRPr sz="4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Repositorio del proyecto</a:t>
            </a:r>
            <a:endParaRPr/>
          </a:p>
        </p:txBody>
      </p:sp>
      <p:sp>
        <p:nvSpPr>
          <p:cNvPr id="164" name="Google Shape;16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s" sz="1100">
                <a:solidFill>
                  <a:schemeClr val="dk1"/>
                </a:solidFill>
              </a:rPr>
              <a:t>El proyecto completo, incluyendo datos, scripts, outputs y README, se encuentra disponible en el siguiente repositorio público:</a:t>
            </a:r>
            <a:endParaRPr sz="1100">
              <a:solidFill>
                <a:schemeClr val="dk1"/>
              </a:solidFill>
            </a:endParaRPr>
          </a:p>
          <a:p>
            <a:pPr indent="0" lvl="0" marL="0" rtl="0" algn="l">
              <a:spcBef>
                <a:spcPts val="1200"/>
              </a:spcBef>
              <a:spcAft>
                <a:spcPts val="0"/>
              </a:spcAft>
              <a:buClr>
                <a:schemeClr val="dk1"/>
              </a:buClr>
              <a:buSzPts val="1100"/>
              <a:buFont typeface="Arial"/>
              <a:buNone/>
            </a:pPr>
            <a:r>
              <a:rPr b="1" lang="es" sz="1100">
                <a:solidFill>
                  <a:schemeClr val="dk1"/>
                </a:solidFill>
              </a:rPr>
              <a:t>GitHub:</a:t>
            </a:r>
            <a:r>
              <a:rPr lang="es" sz="1100">
                <a:solidFill>
                  <a:schemeClr val="dk1"/>
                </a:solidFill>
              </a:rPr>
              <a:t> </a:t>
            </a:r>
            <a:endParaRPr sz="1100">
              <a:solidFill>
                <a:schemeClr val="dk1"/>
              </a:solidFill>
            </a:endParaRPr>
          </a:p>
          <a:p>
            <a:pPr indent="0" lvl="0" marL="0" rtl="0" algn="l">
              <a:spcBef>
                <a:spcPts val="1200"/>
              </a:spcBef>
              <a:spcAft>
                <a:spcPts val="0"/>
              </a:spcAft>
              <a:buNone/>
            </a:pPr>
            <a:r>
              <a:rPr lang="es" sz="1100">
                <a:solidFill>
                  <a:schemeClr val="dk1"/>
                </a:solidFill>
              </a:rPr>
              <a:t>El repositorio contiene las instrucciones necesarias para reproducir el análisis y ejecutar los scripts de forma secuencial.</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rPr lang="es" sz="3000">
                <a:solidFill>
                  <a:schemeClr val="dk1"/>
                </a:solidFill>
              </a:rPr>
              <a:t>Fin.</a:t>
            </a:r>
            <a:endParaRPr sz="30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